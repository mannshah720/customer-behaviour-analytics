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11AC4-F4C0-4756-86BD-CCC3E392E7DE}" v="87" dt="2026-09-08T22:27:48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 Shah" userId="31d329eb7dfec00a" providerId="LiveId" clId="{1234865F-BA3E-41EE-8C6C-04782AEFA19C}"/>
    <pc:docChg chg="undo custSel modSld">
      <pc:chgData name="Mann Shah" userId="31d329eb7dfec00a" providerId="LiveId" clId="{1234865F-BA3E-41EE-8C6C-04782AEFA19C}" dt="2026-09-08T22:29:44.772" v="1281" actId="14100"/>
      <pc:docMkLst>
        <pc:docMk/>
      </pc:docMkLst>
      <pc:sldChg chg="delSp modSp mod">
        <pc:chgData name="Mann Shah" userId="31d329eb7dfec00a" providerId="LiveId" clId="{1234865F-BA3E-41EE-8C6C-04782AEFA19C}" dt="2026-09-08T21:34:12.718" v="326" actId="20577"/>
        <pc:sldMkLst>
          <pc:docMk/>
          <pc:sldMk cId="0" sldId="258"/>
        </pc:sldMkLst>
        <pc:spChg chg="mod">
          <ac:chgData name="Mann Shah" userId="31d329eb7dfec00a" providerId="LiveId" clId="{1234865F-BA3E-41EE-8C6C-04782AEFA19C}" dt="2026-09-08T21:26:47.127" v="7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Mann Shah" userId="31d329eb7dfec00a" providerId="LiveId" clId="{1234865F-BA3E-41EE-8C6C-04782AEFA19C}" dt="2026-09-08T21:27:47.715" v="8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nn Shah" userId="31d329eb7dfec00a" providerId="LiveId" clId="{1234865F-BA3E-41EE-8C6C-04782AEFA19C}" dt="2026-09-08T21:29:27.833" v="21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nn Shah" userId="31d329eb7dfec00a" providerId="LiveId" clId="{1234865F-BA3E-41EE-8C6C-04782AEFA19C}" dt="2026-09-08T21:32:11.392" v="161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nn Shah" userId="31d329eb7dfec00a" providerId="LiveId" clId="{1234865F-BA3E-41EE-8C6C-04782AEFA19C}" dt="2026-09-08T21:32:59.753" v="256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nn Shah" userId="31d329eb7dfec00a" providerId="LiveId" clId="{1234865F-BA3E-41EE-8C6C-04782AEFA19C}" dt="2026-09-08T21:32:55.972" v="24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nn Shah" userId="31d329eb7dfec00a" providerId="LiveId" clId="{1234865F-BA3E-41EE-8C6C-04782AEFA19C}" dt="2026-09-08T21:33:06.484" v="274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nn Shah" userId="31d329eb7dfec00a" providerId="LiveId" clId="{1234865F-BA3E-41EE-8C6C-04782AEFA19C}" dt="2026-09-08T21:33:21.835" v="294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nn Shah" userId="31d329eb7dfec00a" providerId="LiveId" clId="{1234865F-BA3E-41EE-8C6C-04782AEFA19C}" dt="2026-09-08T21:33:47.925" v="302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ann Shah" userId="31d329eb7dfec00a" providerId="LiveId" clId="{1234865F-BA3E-41EE-8C6C-04782AEFA19C}" dt="2026-09-08T21:34:12.718" v="326" actId="20577"/>
          <ac:spMkLst>
            <pc:docMk/>
            <pc:sldMk cId="0" sldId="258"/>
            <ac:spMk id="24" creationId="{00000000-0000-0000-0000-000000000000}"/>
          </ac:spMkLst>
        </pc:spChg>
      </pc:sldChg>
      <pc:sldChg chg="addSp delSp modSp mod">
        <pc:chgData name="Mann Shah" userId="31d329eb7dfec00a" providerId="LiveId" clId="{1234865F-BA3E-41EE-8C6C-04782AEFA19C}" dt="2026-09-08T22:20:39.056" v="1146"/>
        <pc:sldMkLst>
          <pc:docMk/>
          <pc:sldMk cId="0" sldId="259"/>
        </pc:sldMkLst>
        <pc:spChg chg="del mod">
          <ac:chgData name="Mann Shah" userId="31d329eb7dfec00a" providerId="LiveId" clId="{1234865F-BA3E-41EE-8C6C-04782AEFA19C}" dt="2026-09-08T21:43:20.060" v="415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nn Shah" userId="31d329eb7dfec00a" providerId="LiveId" clId="{1234865F-BA3E-41EE-8C6C-04782AEFA19C}" dt="2026-09-08T21:45:42.667" v="453" actId="20577"/>
          <ac:spMkLst>
            <pc:docMk/>
            <pc:sldMk cId="0" sldId="259"/>
            <ac:spMk id="3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2.784" v="417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5.998" v="420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2.784" v="417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2.784" v="417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5.998" v="420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3.730" v="418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2.784" v="417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2.784" v="417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1:43:35.998" v="420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0.555" v="416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2.784" v="417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2.784" v="417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Mann Shah" userId="31d329eb7dfec00a" providerId="LiveId" clId="{1234865F-BA3E-41EE-8C6C-04782AEFA19C}" dt="2026-09-08T21:43:34.293" v="419" actId="478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ann Shah" userId="31d329eb7dfec00a" providerId="LiveId" clId="{1234865F-BA3E-41EE-8C6C-04782AEFA19C}" dt="2026-09-08T21:51:22.536" v="602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ann Shah" userId="31d329eb7dfec00a" providerId="LiveId" clId="{1234865F-BA3E-41EE-8C6C-04782AEFA19C}" dt="2026-09-08T21:51:22.536" v="602" actId="1076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1:45:57.385" v="456" actId="478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ann Shah" userId="31d329eb7dfec00a" providerId="LiveId" clId="{1234865F-BA3E-41EE-8C6C-04782AEFA19C}" dt="2026-09-08T22:20:39.056" v="1146"/>
          <ac:spMkLst>
            <pc:docMk/>
            <pc:sldMk cId="0" sldId="259"/>
            <ac:spMk id="22" creationId="{00000000-0000-0000-0000-000000000000}"/>
          </ac:spMkLst>
        </pc:spChg>
        <pc:spChg chg="add del mod">
          <ac:chgData name="Mann Shah" userId="31d329eb7dfec00a" providerId="LiveId" clId="{1234865F-BA3E-41EE-8C6C-04782AEFA19C}" dt="2026-09-08T21:43:19.599" v="414" actId="478"/>
          <ac:spMkLst>
            <pc:docMk/>
            <pc:sldMk cId="0" sldId="259"/>
            <ac:spMk id="23" creationId="{CB68EC67-E296-C2C6-2208-95B5A092771B}"/>
          </ac:spMkLst>
        </pc:spChg>
        <pc:graphicFrameChg chg="del">
          <ac:chgData name="Mann Shah" userId="31d329eb7dfec00a" providerId="LiveId" clId="{1234865F-BA3E-41EE-8C6C-04782AEFA19C}" dt="2026-09-08T21:35:51.911" v="335" actId="478"/>
          <ac:graphicFrameMkLst>
            <pc:docMk/>
            <pc:sldMk cId="0" sldId="259"/>
            <ac:graphicFrameMk id="18" creationId="{00000000-0000-0000-0000-000000000000}"/>
          </ac:graphicFrameMkLst>
        </pc:graphicFrameChg>
        <pc:graphicFrameChg chg="add mod ord modGraphic">
          <ac:chgData name="Mann Shah" userId="31d329eb7dfec00a" providerId="LiveId" clId="{1234865F-BA3E-41EE-8C6C-04782AEFA19C}" dt="2026-09-08T21:51:18.311" v="601" actId="1076"/>
          <ac:graphicFrameMkLst>
            <pc:docMk/>
            <pc:sldMk cId="0" sldId="259"/>
            <ac:graphicFrameMk id="25" creationId="{3740724E-B60F-5BF5-BF1A-1EF93E1A4CA8}"/>
          </ac:graphicFrameMkLst>
        </pc:graphicFrameChg>
      </pc:sldChg>
      <pc:sldChg chg="addSp delSp modSp mod">
        <pc:chgData name="Mann Shah" userId="31d329eb7dfec00a" providerId="LiveId" clId="{1234865F-BA3E-41EE-8C6C-04782AEFA19C}" dt="2026-09-08T22:05:12.274" v="853" actId="20577"/>
        <pc:sldMkLst>
          <pc:docMk/>
          <pc:sldMk cId="0" sldId="260"/>
        </pc:sldMkLst>
        <pc:spChg chg="add del mod">
          <ac:chgData name="Mann Shah" userId="31d329eb7dfec00a" providerId="LiveId" clId="{1234865F-BA3E-41EE-8C6C-04782AEFA19C}" dt="2026-09-08T22:00:11.806" v="739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nn Shah" userId="31d329eb7dfec00a" providerId="LiveId" clId="{1234865F-BA3E-41EE-8C6C-04782AEFA19C}" dt="2026-09-08T21:53:58.720" v="62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10" creationId="{00000000-0000-0000-0000-000000000000}"/>
          </ac:spMkLst>
        </pc:spChg>
        <pc:spChg chg="del">
          <ac:chgData name="Mann Shah" userId="31d329eb7dfec00a" providerId="LiveId" clId="{1234865F-BA3E-41EE-8C6C-04782AEFA19C}" dt="2026-09-08T21:58:16.261" v="700" actId="478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1:58:20.306" v="704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Mann Shah" userId="31d329eb7dfec00a" providerId="LiveId" clId="{1234865F-BA3E-41EE-8C6C-04782AEFA19C}" dt="2026-09-08T21:58:21.438" v="705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Mann Shah" userId="31d329eb7dfec00a" providerId="LiveId" clId="{1234865F-BA3E-41EE-8C6C-04782AEFA19C}" dt="2026-09-08T21:58:22.294" v="706" actId="47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Mann Shah" userId="31d329eb7dfec00a" providerId="LiveId" clId="{1234865F-BA3E-41EE-8C6C-04782AEFA19C}" dt="2026-09-08T22:00:49.178" v="749" actId="1076"/>
          <ac:spMkLst>
            <pc:docMk/>
            <pc:sldMk cId="0" sldId="260"/>
            <ac:spMk id="19" creationId="{00000000-0000-0000-0000-000000000000}"/>
          </ac:spMkLst>
        </pc:spChg>
        <pc:spChg chg="del">
          <ac:chgData name="Mann Shah" userId="31d329eb7dfec00a" providerId="LiveId" clId="{1234865F-BA3E-41EE-8C6C-04782AEFA19C}" dt="2026-09-08T21:58:26.620" v="709" actId="478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1:58:30.300" v="712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Mann Shah" userId="31d329eb7dfec00a" providerId="LiveId" clId="{1234865F-BA3E-41EE-8C6C-04782AEFA19C}" dt="2026-09-08T21:58:28.910" v="711" actId="478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1:57:21.032" v="698" actId="478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1:57:21.824" v="699" actId="47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Mann Shah" userId="31d329eb7dfec00a" providerId="LiveId" clId="{1234865F-BA3E-41EE-8C6C-04782AEFA19C}" dt="2026-09-08T21:59:24.174" v="725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Mann Shah" userId="31d329eb7dfec00a" providerId="LiveId" clId="{1234865F-BA3E-41EE-8C6C-04782AEFA19C}" dt="2026-09-08T21:59:24.174" v="725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Mann Shah" userId="31d329eb7dfec00a" providerId="LiveId" clId="{1234865F-BA3E-41EE-8C6C-04782AEFA19C}" dt="2026-09-08T22:05:12.274" v="853" actId="20577"/>
          <ac:spMkLst>
            <pc:docMk/>
            <pc:sldMk cId="0" sldId="260"/>
            <ac:spMk id="27" creationId="{00000000-0000-0000-0000-000000000000}"/>
          </ac:spMkLst>
        </pc:spChg>
        <pc:spChg chg="add del mod">
          <ac:chgData name="Mann Shah" userId="31d329eb7dfec00a" providerId="LiveId" clId="{1234865F-BA3E-41EE-8C6C-04782AEFA19C}" dt="2026-09-08T21:54:01.149" v="626" actId="478"/>
          <ac:spMkLst>
            <pc:docMk/>
            <pc:sldMk cId="0" sldId="260"/>
            <ac:spMk id="30" creationId="{F329123D-C856-5EA9-56B6-C6D7907354C8}"/>
          </ac:spMkLst>
        </pc:spChg>
        <pc:spChg chg="add del mod">
          <ac:chgData name="Mann Shah" userId="31d329eb7dfec00a" providerId="LiveId" clId="{1234865F-BA3E-41EE-8C6C-04782AEFA19C}" dt="2026-09-08T21:59:42.436" v="727" actId="478"/>
          <ac:spMkLst>
            <pc:docMk/>
            <pc:sldMk cId="0" sldId="260"/>
            <ac:spMk id="32" creationId="{8509DAAE-B312-9687-9FE7-EFBF1ADFE321}"/>
          </ac:spMkLst>
        </pc:spChg>
        <pc:spChg chg="add del mod">
          <ac:chgData name="Mann Shah" userId="31d329eb7dfec00a" providerId="LiveId" clId="{1234865F-BA3E-41EE-8C6C-04782AEFA19C}" dt="2026-09-08T21:58:57.170" v="719" actId="478"/>
          <ac:spMkLst>
            <pc:docMk/>
            <pc:sldMk cId="0" sldId="260"/>
            <ac:spMk id="34" creationId="{FDDB3E5C-727D-EEF8-54A9-094CE8B06D6B}"/>
          </ac:spMkLst>
        </pc:spChg>
        <pc:spChg chg="add del mod">
          <ac:chgData name="Mann Shah" userId="31d329eb7dfec00a" providerId="LiveId" clId="{1234865F-BA3E-41EE-8C6C-04782AEFA19C}" dt="2026-09-08T21:58:56.435" v="718" actId="478"/>
          <ac:spMkLst>
            <pc:docMk/>
            <pc:sldMk cId="0" sldId="260"/>
            <ac:spMk id="36" creationId="{58F27B39-EFAF-DCAE-F89C-2CFE0D8A0463}"/>
          </ac:spMkLst>
        </pc:spChg>
        <pc:spChg chg="add del">
          <ac:chgData name="Mann Shah" userId="31d329eb7dfec00a" providerId="LiveId" clId="{1234865F-BA3E-41EE-8C6C-04782AEFA19C}" dt="2026-09-08T21:59:47.435" v="729" actId="22"/>
          <ac:spMkLst>
            <pc:docMk/>
            <pc:sldMk cId="0" sldId="260"/>
            <ac:spMk id="38" creationId="{55077CAA-698A-F371-C9E6-26190DC5366D}"/>
          </ac:spMkLst>
        </pc:spChg>
        <pc:spChg chg="add del">
          <ac:chgData name="Mann Shah" userId="31d329eb7dfec00a" providerId="LiveId" clId="{1234865F-BA3E-41EE-8C6C-04782AEFA19C}" dt="2026-09-08T21:59:47.435" v="729" actId="22"/>
          <ac:spMkLst>
            <pc:docMk/>
            <pc:sldMk cId="0" sldId="260"/>
            <ac:spMk id="40" creationId="{F97CC792-BE3F-F8E9-4A32-9289D618A87D}"/>
          </ac:spMkLst>
        </pc:spChg>
        <pc:spChg chg="add del">
          <ac:chgData name="Mann Shah" userId="31d329eb7dfec00a" providerId="LiveId" clId="{1234865F-BA3E-41EE-8C6C-04782AEFA19C}" dt="2026-09-08T21:59:47.435" v="729" actId="22"/>
          <ac:spMkLst>
            <pc:docMk/>
            <pc:sldMk cId="0" sldId="260"/>
            <ac:spMk id="42" creationId="{0E200B8D-F6AD-2000-AE5E-C4B58550A243}"/>
          </ac:spMkLst>
        </pc:spChg>
        <pc:spChg chg="add mod">
          <ac:chgData name="Mann Shah" userId="31d329eb7dfec00a" providerId="LiveId" clId="{1234865F-BA3E-41EE-8C6C-04782AEFA19C}" dt="2026-09-08T22:00:36.393" v="748" actId="14100"/>
          <ac:spMkLst>
            <pc:docMk/>
            <pc:sldMk cId="0" sldId="260"/>
            <ac:spMk id="44" creationId="{A1C08F83-E3E9-FF19-1082-8BEB93CAF919}"/>
          </ac:spMkLst>
        </pc:spChg>
        <pc:spChg chg="add mod">
          <ac:chgData name="Mann Shah" userId="31d329eb7dfec00a" providerId="LiveId" clId="{1234865F-BA3E-41EE-8C6C-04782AEFA19C}" dt="2026-09-08T22:00:15.057" v="740" actId="1076"/>
          <ac:spMkLst>
            <pc:docMk/>
            <pc:sldMk cId="0" sldId="260"/>
            <ac:spMk id="46" creationId="{CB71B0D4-C528-8414-9405-758C26E9BDE7}"/>
          </ac:spMkLst>
        </pc:spChg>
        <pc:spChg chg="add mod">
          <ac:chgData name="Mann Shah" userId="31d329eb7dfec00a" providerId="LiveId" clId="{1234865F-BA3E-41EE-8C6C-04782AEFA19C}" dt="2026-09-08T22:04:13.775" v="786"/>
          <ac:spMkLst>
            <pc:docMk/>
            <pc:sldMk cId="0" sldId="260"/>
            <ac:spMk id="48" creationId="{701C47C8-E8F6-08D6-9DEC-283511F439FD}"/>
          </ac:spMkLst>
        </pc:spChg>
      </pc:sldChg>
      <pc:sldChg chg="addSp delSp modSp mod">
        <pc:chgData name="Mann Shah" userId="31d329eb7dfec00a" providerId="LiveId" clId="{1234865F-BA3E-41EE-8C6C-04782AEFA19C}" dt="2026-09-08T22:16:45.601" v="1135" actId="14100"/>
        <pc:sldMkLst>
          <pc:docMk/>
          <pc:sldMk cId="0" sldId="261"/>
        </pc:sldMkLst>
        <pc:spChg chg="mod">
          <ac:chgData name="Mann Shah" userId="31d329eb7dfec00a" providerId="LiveId" clId="{1234865F-BA3E-41EE-8C6C-04782AEFA19C}" dt="2026-09-08T22:06:52.683" v="970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Mann Shah" userId="31d329eb7dfec00a" providerId="LiveId" clId="{1234865F-BA3E-41EE-8C6C-04782AEFA19C}" dt="2026-09-08T22:06:55.376" v="971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7" creationId="{00000000-0000-0000-0000-000000000000}"/>
          </ac:spMkLst>
        </pc:spChg>
        <pc:spChg chg="del">
          <ac:chgData name="Mann Shah" userId="31d329eb7dfec00a" providerId="LiveId" clId="{1234865F-BA3E-41EE-8C6C-04782AEFA19C}" dt="2026-09-08T22:07:02.732" v="974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nn Shah" userId="31d329eb7dfec00a" providerId="LiveId" clId="{1234865F-BA3E-41EE-8C6C-04782AEFA19C}" dt="2026-09-08T22:07:08.758" v="976" actId="1076"/>
          <ac:spMkLst>
            <pc:docMk/>
            <pc:sldMk cId="0" sldId="261"/>
            <ac:spMk id="21" creationId="{00000000-0000-0000-0000-000000000000}"/>
          </ac:spMkLst>
        </pc:spChg>
        <pc:spChg chg="del">
          <ac:chgData name="Mann Shah" userId="31d329eb7dfec00a" providerId="LiveId" clId="{1234865F-BA3E-41EE-8C6C-04782AEFA19C}" dt="2026-09-08T22:06:25.541" v="895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Mann Shah" userId="31d329eb7dfec00a" providerId="LiveId" clId="{1234865F-BA3E-41EE-8C6C-04782AEFA19C}" dt="2026-09-08T22:06:21.827" v="894" actId="478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Mann Shah" userId="31d329eb7dfec00a" providerId="LiveId" clId="{1234865F-BA3E-41EE-8C6C-04782AEFA19C}" dt="2026-09-08T22:12:18.409" v="1088" actId="14100"/>
          <ac:spMkLst>
            <pc:docMk/>
            <pc:sldMk cId="0" sldId="261"/>
            <ac:spMk id="28" creationId="{59136665-B4F5-149C-CED0-C9C0A8C6CC48}"/>
          </ac:spMkLst>
        </pc:spChg>
        <pc:spChg chg="add mod">
          <ac:chgData name="Mann Shah" userId="31d329eb7dfec00a" providerId="LiveId" clId="{1234865F-BA3E-41EE-8C6C-04782AEFA19C}" dt="2026-09-08T22:07:59.800" v="980" actId="1076"/>
          <ac:spMkLst>
            <pc:docMk/>
            <pc:sldMk cId="0" sldId="261"/>
            <ac:spMk id="30" creationId="{382A2A92-64C2-A314-536C-022DEF8FF1AA}"/>
          </ac:spMkLst>
        </pc:spChg>
        <pc:spChg chg="add mod">
          <ac:chgData name="Mann Shah" userId="31d329eb7dfec00a" providerId="LiveId" clId="{1234865F-BA3E-41EE-8C6C-04782AEFA19C}" dt="2026-09-08T22:12:15.921" v="1087" actId="14100"/>
          <ac:spMkLst>
            <pc:docMk/>
            <pc:sldMk cId="0" sldId="261"/>
            <ac:spMk id="32" creationId="{EE4A2FC0-CE88-232C-A98E-2B13E5C86129}"/>
          </ac:spMkLst>
        </pc:spChg>
        <pc:spChg chg="add mod">
          <ac:chgData name="Mann Shah" userId="31d329eb7dfec00a" providerId="LiveId" clId="{1234865F-BA3E-41EE-8C6C-04782AEFA19C}" dt="2026-09-08T22:16:45.601" v="1135" actId="14100"/>
          <ac:spMkLst>
            <pc:docMk/>
            <pc:sldMk cId="0" sldId="261"/>
            <ac:spMk id="34" creationId="{C62259D4-FEE8-94C7-7AD8-10FA929301AB}"/>
          </ac:spMkLst>
        </pc:spChg>
        <pc:spChg chg="add mod">
          <ac:chgData name="Mann Shah" userId="31d329eb7dfec00a" providerId="LiveId" clId="{1234865F-BA3E-41EE-8C6C-04782AEFA19C}" dt="2026-09-08T22:15:27.054" v="1102" actId="1076"/>
          <ac:spMkLst>
            <pc:docMk/>
            <pc:sldMk cId="0" sldId="261"/>
            <ac:spMk id="36" creationId="{CCD075B8-0ACF-F7DD-A165-17F2678E5631}"/>
          </ac:spMkLst>
        </pc:spChg>
        <pc:spChg chg="add mod">
          <ac:chgData name="Mann Shah" userId="31d329eb7dfec00a" providerId="LiveId" clId="{1234865F-BA3E-41EE-8C6C-04782AEFA19C}" dt="2026-09-08T22:15:58.220" v="1131" actId="20577"/>
          <ac:spMkLst>
            <pc:docMk/>
            <pc:sldMk cId="0" sldId="261"/>
            <ac:spMk id="38" creationId="{6E963FAF-C2C7-DD67-4276-8F573A75A61D}"/>
          </ac:spMkLst>
        </pc:spChg>
        <pc:spChg chg="add del mod">
          <ac:chgData name="Mann Shah" userId="31d329eb7dfec00a" providerId="LiveId" clId="{1234865F-BA3E-41EE-8C6C-04782AEFA19C}" dt="2026-09-08T22:16:22.890" v="1134"/>
          <ac:spMkLst>
            <pc:docMk/>
            <pc:sldMk cId="0" sldId="261"/>
            <ac:spMk id="39" creationId="{D99BF010-9947-925F-7C33-7721C439CA93}"/>
          </ac:spMkLst>
        </pc:spChg>
        <pc:graphicFrameChg chg="del mod">
          <ac:chgData name="Mann Shah" userId="31d329eb7dfec00a" providerId="LiveId" clId="{1234865F-BA3E-41EE-8C6C-04782AEFA19C}" dt="2026-09-08T22:06:57.227" v="972" actId="478"/>
          <ac:graphicFrameMkLst>
            <pc:docMk/>
            <pc:sldMk cId="0" sldId="261"/>
            <ac:graphicFrameMk id="6" creationId="{00000000-0000-0000-0000-000000000000}"/>
          </ac:graphicFrameMkLst>
        </pc:graphicFrameChg>
      </pc:sldChg>
      <pc:sldChg chg="addSp delSp modSp mod">
        <pc:chgData name="Mann Shah" userId="31d329eb7dfec00a" providerId="LiveId" clId="{1234865F-BA3E-41EE-8C6C-04782AEFA19C}" dt="2026-09-08T22:28:36.714" v="1236" actId="20577"/>
        <pc:sldMkLst>
          <pc:docMk/>
          <pc:sldMk cId="0" sldId="265"/>
        </pc:sldMkLst>
        <pc:spChg chg="mod">
          <ac:chgData name="Mann Shah" userId="31d329eb7dfec00a" providerId="LiveId" clId="{1234865F-BA3E-41EE-8C6C-04782AEFA19C}" dt="2026-09-08T22:23:31.130" v="1187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Mann Shah" userId="31d329eb7dfec00a" providerId="LiveId" clId="{1234865F-BA3E-41EE-8C6C-04782AEFA19C}" dt="2026-09-08T22:19:11.875" v="1136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ann Shah" userId="31d329eb7dfec00a" providerId="LiveId" clId="{1234865F-BA3E-41EE-8C6C-04782AEFA19C}" dt="2026-09-08T22:24:52.873" v="1201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Mann Shah" userId="31d329eb7dfec00a" providerId="LiveId" clId="{1234865F-BA3E-41EE-8C6C-04782AEFA19C}" dt="2026-09-08T22:28:18.279" v="1235" actId="1076"/>
          <ac:spMkLst>
            <pc:docMk/>
            <pc:sldMk cId="0" sldId="265"/>
            <ac:spMk id="22" creationId="{00000000-0000-0000-0000-000000000000}"/>
          </ac:spMkLst>
        </pc:spChg>
        <pc:spChg chg="del">
          <ac:chgData name="Mann Shah" userId="31d329eb7dfec00a" providerId="LiveId" clId="{1234865F-BA3E-41EE-8C6C-04782AEFA19C}" dt="2026-09-08T22:19:34.381" v="1138" actId="478"/>
          <ac:spMkLst>
            <pc:docMk/>
            <pc:sldMk cId="0" sldId="265"/>
            <ac:spMk id="23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2:20:31.586" v="1144"/>
          <ac:spMkLst>
            <pc:docMk/>
            <pc:sldMk cId="0" sldId="265"/>
            <ac:spMk id="24" creationId="{00000000-0000-0000-0000-000000000000}"/>
          </ac:spMkLst>
        </pc:spChg>
        <pc:spChg chg="del">
          <ac:chgData name="Mann Shah" userId="31d329eb7dfec00a" providerId="LiveId" clId="{1234865F-BA3E-41EE-8C6C-04782AEFA19C}" dt="2026-09-08T22:20:31.585" v="1142" actId="478"/>
          <ac:spMkLst>
            <pc:docMk/>
            <pc:sldMk cId="0" sldId="265"/>
            <ac:spMk id="25" creationId="{00000000-0000-0000-0000-000000000000}"/>
          </ac:spMkLst>
        </pc:spChg>
        <pc:spChg chg="add mod">
          <ac:chgData name="Mann Shah" userId="31d329eb7dfec00a" providerId="LiveId" clId="{1234865F-BA3E-41EE-8C6C-04782AEFA19C}" dt="2026-09-08T22:28:18.279" v="1235" actId="1076"/>
          <ac:spMkLst>
            <pc:docMk/>
            <pc:sldMk cId="0" sldId="265"/>
            <ac:spMk id="28" creationId="{729BE792-247F-C6D5-D2A2-93ACFE67ACFF}"/>
          </ac:spMkLst>
        </pc:spChg>
        <pc:spChg chg="add mod">
          <ac:chgData name="Mann Shah" userId="31d329eb7dfec00a" providerId="LiveId" clId="{1234865F-BA3E-41EE-8C6C-04782AEFA19C}" dt="2026-09-08T22:28:18.279" v="1235" actId="1076"/>
          <ac:spMkLst>
            <pc:docMk/>
            <pc:sldMk cId="0" sldId="265"/>
            <ac:spMk id="30" creationId="{A18B4C87-D0AB-2FFA-FB37-226C950D6E11}"/>
          </ac:spMkLst>
        </pc:spChg>
        <pc:spChg chg="add mod">
          <ac:chgData name="Mann Shah" userId="31d329eb7dfec00a" providerId="LiveId" clId="{1234865F-BA3E-41EE-8C6C-04782AEFA19C}" dt="2026-09-08T22:28:18.279" v="1235" actId="1076"/>
          <ac:spMkLst>
            <pc:docMk/>
            <pc:sldMk cId="0" sldId="265"/>
            <ac:spMk id="32" creationId="{AC7DC121-64B0-1742-0A23-EE3ECEFB9D30}"/>
          </ac:spMkLst>
        </pc:spChg>
        <pc:spChg chg="add mod">
          <ac:chgData name="Mann Shah" userId="31d329eb7dfec00a" providerId="LiveId" clId="{1234865F-BA3E-41EE-8C6C-04782AEFA19C}" dt="2026-09-08T22:28:18.279" v="1235" actId="1076"/>
          <ac:spMkLst>
            <pc:docMk/>
            <pc:sldMk cId="0" sldId="265"/>
            <ac:spMk id="34" creationId="{7CEE5440-DDF4-4EE6-D23C-D2C695EC3231}"/>
          </ac:spMkLst>
        </pc:spChg>
        <pc:spChg chg="add mod">
          <ac:chgData name="Mann Shah" userId="31d329eb7dfec00a" providerId="LiveId" clId="{1234865F-BA3E-41EE-8C6C-04782AEFA19C}" dt="2026-09-08T22:28:36.714" v="1236" actId="20577"/>
          <ac:spMkLst>
            <pc:docMk/>
            <pc:sldMk cId="0" sldId="265"/>
            <ac:spMk id="36" creationId="{E53410E3-2E95-B1C5-7B8A-18F30180638C}"/>
          </ac:spMkLst>
        </pc:spChg>
        <pc:graphicFrameChg chg="del mod">
          <ac:chgData name="Mann Shah" userId="31d329eb7dfec00a" providerId="LiveId" clId="{1234865F-BA3E-41EE-8C6C-04782AEFA19C}" dt="2026-09-08T22:24:47.421" v="1200" actId="478"/>
          <ac:graphicFrameMkLst>
            <pc:docMk/>
            <pc:sldMk cId="0" sldId="265"/>
            <ac:graphicFrameMk id="6" creationId="{00000000-0000-0000-0000-000000000000}"/>
          </ac:graphicFrameMkLst>
        </pc:graphicFrameChg>
      </pc:sldChg>
      <pc:sldChg chg="modSp mod">
        <pc:chgData name="Mann Shah" userId="31d329eb7dfec00a" providerId="LiveId" clId="{1234865F-BA3E-41EE-8C6C-04782AEFA19C}" dt="2026-09-08T22:29:44.772" v="1281" actId="14100"/>
        <pc:sldMkLst>
          <pc:docMk/>
          <pc:sldMk cId="0" sldId="266"/>
        </pc:sldMkLst>
        <pc:spChg chg="mod">
          <ac:chgData name="Mann Shah" userId="31d329eb7dfec00a" providerId="LiveId" clId="{1234865F-BA3E-41EE-8C6C-04782AEFA19C}" dt="2026-09-08T22:29:44.772" v="1281" actId="14100"/>
          <ac:spMkLst>
            <pc:docMk/>
            <pc:sldMk cId="0" sldId="266"/>
            <ac:spMk id="26" creationId="{00000000-0000-0000-0000-000000000000}"/>
          </ac:spMkLst>
        </pc:spChg>
      </pc:sldChg>
      <pc:sldChg chg="addSp delSp modSp mod">
        <pc:chgData name="Mann Shah" userId="31d329eb7dfec00a" providerId="LiveId" clId="{1234865F-BA3E-41EE-8C6C-04782AEFA19C}" dt="2026-09-08T22:29:28.733" v="1280" actId="20577"/>
        <pc:sldMkLst>
          <pc:docMk/>
          <pc:sldMk cId="0" sldId="267"/>
        </pc:sldMkLst>
        <pc:spChg chg="mod">
          <ac:chgData name="Mann Shah" userId="31d329eb7dfec00a" providerId="LiveId" clId="{1234865F-BA3E-41EE-8C6C-04782AEFA19C}" dt="2026-09-08T22:29:28.733" v="1280" actId="20577"/>
          <ac:spMkLst>
            <pc:docMk/>
            <pc:sldMk cId="0" sldId="267"/>
            <ac:spMk id="3" creationId="{00000000-0000-0000-0000-000000000000}"/>
          </ac:spMkLst>
        </pc:spChg>
        <pc:spChg chg="add del">
          <ac:chgData name="Mann Shah" userId="31d329eb7dfec00a" providerId="LiveId" clId="{1234865F-BA3E-41EE-8C6C-04782AEFA19C}" dt="2026-09-08T22:29:05.819" v="1239" actId="478"/>
          <ac:spMkLst>
            <pc:docMk/>
            <pc:sldMk cId="0" sldId="267"/>
            <ac:spMk id="6" creationId="{00000000-0000-0000-0000-000000000000}"/>
          </ac:spMkLst>
        </pc:spChg>
        <pc:spChg chg="del mod">
          <ac:chgData name="Mann Shah" userId="31d329eb7dfec00a" providerId="LiveId" clId="{1234865F-BA3E-41EE-8C6C-04782AEFA19C}" dt="2026-09-08T22:29:06.745" v="1240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Mann Shah" userId="31d329eb7dfec00a" providerId="LiveId" clId="{1234865F-BA3E-41EE-8C6C-04782AEFA19C}" dt="2026-09-08T22:29:12.997" v="1245" actId="478"/>
          <ac:spMkLst>
            <pc:docMk/>
            <pc:sldMk cId="0" sldId="267"/>
            <ac:spMk id="23" creationId="{00000000-0000-0000-0000-000000000000}"/>
          </ac:spMkLst>
        </pc:spChg>
        <pc:spChg chg="del">
          <ac:chgData name="Mann Shah" userId="31d329eb7dfec00a" providerId="LiveId" clId="{1234865F-BA3E-41EE-8C6C-04782AEFA19C}" dt="2026-09-08T22:29:08.096" v="1241" actId="478"/>
          <ac:spMkLst>
            <pc:docMk/>
            <pc:sldMk cId="0" sldId="267"/>
            <ac:spMk id="32" creationId="{00000000-0000-0000-0000-000000000000}"/>
          </ac:spMkLst>
        </pc:spChg>
        <pc:spChg chg="add del">
          <ac:chgData name="Mann Shah" userId="31d329eb7dfec00a" providerId="LiveId" clId="{1234865F-BA3E-41EE-8C6C-04782AEFA19C}" dt="2026-09-08T22:29:10.484" v="1243" actId="478"/>
          <ac:spMkLst>
            <pc:docMk/>
            <pc:sldMk cId="0" sldId="267"/>
            <ac:spMk id="33" creationId="{00000000-0000-0000-0000-000000000000}"/>
          </ac:spMkLst>
        </pc:spChg>
        <pc:spChg chg="del">
          <ac:chgData name="Mann Shah" userId="31d329eb7dfec00a" providerId="LiveId" clId="{1234865F-BA3E-41EE-8C6C-04782AEFA19C}" dt="2026-09-08T22:29:11.806" v="1244" actId="478"/>
          <ac:spMkLst>
            <pc:docMk/>
            <pc:sldMk cId="0" sldId="267"/>
            <ac:spMk id="3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2-Day Shipping</c:v>
                </c:pt>
                <c:pt idx="1">
                  <c:v>Express</c:v>
                </c:pt>
                <c:pt idx="2">
                  <c:v>Free Shipping</c:v>
                </c:pt>
                <c:pt idx="3">
                  <c:v>Next Day Air</c:v>
                </c:pt>
                <c:pt idx="4">
                  <c:v>Standard</c:v>
                </c:pt>
                <c:pt idx="5">
                  <c:v>Store Pickup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60.733652312599681</c:v>
                </c:pt>
                <c:pt idx="1">
                  <c:v>60.475232198142415</c:v>
                </c:pt>
                <c:pt idx="2">
                  <c:v>60.410370370370373</c:v>
                </c:pt>
                <c:pt idx="3">
                  <c:v>58.631172839506171</c:v>
                </c:pt>
                <c:pt idx="4">
                  <c:v>58.460244648318046</c:v>
                </c:pt>
                <c:pt idx="5">
                  <c:v>59.893846153846155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CB-49BA-BD65-8F14699F95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discounted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49.655172413793103</c:v>
                </c:pt>
                <c:pt idx="2">
                  <c:v>49.068322981366457</c:v>
                </c:pt>
                <c:pt idx="3">
                  <c:v>48.170731707317074</c:v>
                </c:pt>
                <c:pt idx="4">
                  <c:v>47.368421052631575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B-4E31-99A5-3893F8199E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Adults (18–30)</c:v>
                </c:pt>
                <c:pt idx="1">
                  <c:v>Middle-Aged (31–45)</c:v>
                </c:pt>
                <c:pt idx="2">
                  <c:v>Older Adults (46–60)</c:v>
                </c:pt>
                <c:pt idx="3">
                  <c:v>61+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64381</c:v>
                </c:pt>
                <c:pt idx="2">
                  <c:v>67565</c:v>
                </c:pt>
                <c:pt idx="3">
                  <c:v>38992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21-44DC-A387-A2C867FDDB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097280"/>
            <a:ext cx="6858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CUSTOMER SHOPPING
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61488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ECFE4"/>
                </a:solidFill>
                <a:latin typeface="Aptos"/>
              </a:rPr>
              <a:t>From transactional data to commercial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234440"/>
            <a:ext cx="1005840" cy="1325880"/>
          </a:xfrm>
          <a:prstGeom prst="roundRect">
            <a:avLst/>
          </a:prstGeom>
          <a:solidFill>
            <a:srgbClr val="1E2C41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444752"/>
            <a:ext cx="822960" cy="203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A6BBD4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1856231"/>
            <a:ext cx="859536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3,900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234440"/>
            <a:ext cx="1005840" cy="1325880"/>
          </a:xfrm>
          <a:prstGeom prst="roundRect">
            <a:avLst/>
          </a:prstGeom>
          <a:solidFill>
            <a:srgbClr val="1E2C41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0" y="1444752"/>
            <a:ext cx="822960" cy="203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A6BBD4"/>
                </a:solidFill>
                <a:latin typeface="Aptos"/>
              </a:rPr>
              <a:t>SUBSCRIBERS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7152" y="1856231"/>
            <a:ext cx="859536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1,053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1234440"/>
            <a:ext cx="1005840" cy="1325880"/>
          </a:xfrm>
          <a:prstGeom prst="roundRect">
            <a:avLst/>
          </a:prstGeom>
          <a:solidFill>
            <a:srgbClr val="1E2C41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69880" y="144475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A6BBD4"/>
                </a:solidFill>
                <a:latin typeface="Aptos"/>
              </a:rPr>
              <a:t>REPEAT BUYERS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1592" y="1856231"/>
            <a:ext cx="859536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3,476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1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dataset points to strong loyalty, a clear male revenue skew, and a subscription proposition that needs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5257800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Revenue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9456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Male customers generate £157.9k vs £75.2k from female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8892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A64AA"/>
                </a:solidFill>
                <a:latin typeface="Aptos"/>
              </a:rPr>
              <a:t>COMMERCIAL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752344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Investigate mix, basket size and product preference.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627632"/>
            <a:ext cx="5257800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81051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Discounts can coexist with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19456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839 customers used a discount and still spent above the average purchase amount.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78892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A64AA"/>
                </a:solidFill>
                <a:latin typeface="Aptos"/>
              </a:rPr>
              <a:t>PRICING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2752344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Target offers around high-value baskets, not blanket discounting.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85032"/>
            <a:ext cx="5257800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86791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Loyalty is strong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5196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3,116 customers are classified as loyal, while only 83 are new.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84632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A64AA"/>
                </a:solidFill>
                <a:latin typeface="Aptos"/>
              </a:rPr>
              <a:t>GROWTH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4809744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Retention looks healthy; acquisition needs more attention.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3685032"/>
            <a:ext cx="5257800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386791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Subscription is underperforming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25196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Subscribers average £59.49 vs £59.87 for non-subscribers.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484632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2A64AA"/>
                </a:solidFill>
                <a:latin typeface="Aptos"/>
              </a:rPr>
              <a:t>PROGRAMME REDESIGN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4" y="4809744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Rebuild benefits around frequency, value and engagement.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2800" b="1" dirty="0">
                <a:solidFill>
                  <a:srgbClr val="141F31"/>
                </a:solidFill>
                <a:latin typeface="Aptos"/>
              </a:rPr>
              <a:t>Workflow</a:t>
            </a:r>
            <a:endParaRPr sz="28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37744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64A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42032"/>
            <a:ext cx="1920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300" b="1" dirty="0">
                <a:solidFill>
                  <a:srgbClr val="141F31"/>
                </a:solidFill>
                <a:latin typeface="Aptos"/>
              </a:rPr>
              <a:t>EDA in Python</a:t>
            </a:r>
            <a:endParaRPr sz="13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2907792"/>
            <a:ext cx="1938528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50" b="0" dirty="0">
                <a:solidFill>
                  <a:srgbClr val="64748B"/>
                </a:solidFill>
                <a:latin typeface="Aptos"/>
              </a:rPr>
              <a:t>Replacing missing values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64748B"/>
                </a:solidFill>
                <a:latin typeface="Aptos"/>
              </a:rPr>
              <a:t>Feature Engineering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50" b="0" dirty="0">
                <a:solidFill>
                  <a:srgbClr val="64748B"/>
                </a:solidFill>
                <a:latin typeface="Aptos"/>
              </a:rPr>
              <a:t>Column </a:t>
            </a:r>
            <a:r>
              <a:rPr lang="en-GB" sz="1050" dirty="0">
                <a:solidFill>
                  <a:srgbClr val="64748B"/>
                </a:solidFill>
                <a:latin typeface="Aptos"/>
              </a:rPr>
              <a:t>Standardization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64748B"/>
                </a:solidFill>
                <a:latin typeface="Aptos"/>
              </a:rPr>
              <a:t>Removing redundant data</a:t>
            </a:r>
          </a:p>
          <a:p>
            <a:endParaRPr sz="105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82112" y="258775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874519"/>
            <a:ext cx="237744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20756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64A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542032"/>
            <a:ext cx="1920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300" b="1" dirty="0">
                <a:solidFill>
                  <a:srgbClr val="141F31"/>
                </a:solidFill>
                <a:latin typeface="Aptos"/>
              </a:rPr>
              <a:t>Connect</a:t>
            </a:r>
            <a:endParaRPr sz="13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21607" y="2907792"/>
            <a:ext cx="1938528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050" b="0" dirty="0">
                <a:solidFill>
                  <a:srgbClr val="64748B"/>
                </a:solidFill>
                <a:latin typeface="Aptos"/>
              </a:rPr>
              <a:t>Connecting python script to PostgreSQL and loading data frame into the database.</a:t>
            </a:r>
            <a:endParaRPr sz="105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1031" y="258775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874519"/>
            <a:ext cx="237744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7" y="20756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64A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542032"/>
            <a:ext cx="1920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300" b="1" dirty="0">
                <a:solidFill>
                  <a:srgbClr val="141F31"/>
                </a:solidFill>
                <a:latin typeface="Aptos"/>
              </a:rPr>
              <a:t>SQL Analysis</a:t>
            </a:r>
            <a:endParaRPr sz="13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10527" y="2907792"/>
            <a:ext cx="193852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64748B"/>
                </a:solidFill>
                <a:latin typeface="Aptos"/>
              </a:rPr>
              <a:t>Us</a:t>
            </a:r>
            <a:r>
              <a:rPr lang="en-GB" sz="1050" b="0" dirty="0" err="1">
                <a:solidFill>
                  <a:srgbClr val="64748B"/>
                </a:solidFill>
                <a:latin typeface="Aptos"/>
              </a:rPr>
              <a:t>ing</a:t>
            </a:r>
            <a:r>
              <a:rPr sz="1050" b="0" dirty="0">
                <a:solidFill>
                  <a:srgbClr val="64748B"/>
                </a:solidFill>
                <a:latin typeface="Aptos"/>
              </a:rPr>
              <a:t> SQL to answer
</a:t>
            </a:r>
            <a:r>
              <a:rPr lang="en-GB" sz="1050" b="0" dirty="0">
                <a:solidFill>
                  <a:srgbClr val="64748B"/>
                </a:solidFill>
                <a:latin typeface="Aptos"/>
              </a:rPr>
              <a:t>several business</a:t>
            </a:r>
            <a:r>
              <a:rPr sz="1050" b="0" dirty="0">
                <a:solidFill>
                  <a:srgbClr val="64748B"/>
                </a:solidFill>
                <a:latin typeface="Aptos"/>
              </a:rPr>
              <a:t>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258775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1874519"/>
            <a:ext cx="237744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20756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64AA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542032"/>
            <a:ext cx="1920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300" b="1" dirty="0">
                <a:solidFill>
                  <a:srgbClr val="141F31"/>
                </a:solidFill>
                <a:latin typeface="Aptos"/>
              </a:rPr>
              <a:t>Insights</a:t>
            </a:r>
            <a:endParaRPr sz="13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99448" y="2907792"/>
            <a:ext cx="193852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050" dirty="0">
                <a:solidFill>
                  <a:srgbClr val="64748B"/>
                </a:solidFill>
                <a:latin typeface="Aptos"/>
              </a:rPr>
              <a:t>Translating</a:t>
            </a:r>
            <a:r>
              <a:rPr sz="1050" b="0" dirty="0">
                <a:solidFill>
                  <a:srgbClr val="64748B"/>
                </a:solidFill>
                <a:latin typeface="Aptos"/>
              </a:rPr>
              <a:t> metrics into
actions and hypotheses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64AA"/>
                </a:solidFill>
                <a:latin typeface="Aptos"/>
              </a:rPr>
              <a:t>Analytical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2803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1F31"/>
                </a:solidFill>
                <a:latin typeface="Aptos"/>
              </a:rPr>
              <a:t>Revenue • pricing &amp; discounts • product quality • fulfilment • subscription • loyalty • demographics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38912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2800" b="1" dirty="0">
                <a:solidFill>
                  <a:srgbClr val="141F31"/>
                </a:solidFill>
                <a:latin typeface="Aptos"/>
              </a:rPr>
              <a:t>Male vs Female</a:t>
            </a:r>
            <a:endParaRPr sz="28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9099" y="3383909"/>
            <a:ext cx="8583562" cy="2714126"/>
          </a:xfrm>
          <a:prstGeom prst="roundRect">
            <a:avLst/>
          </a:prstGeom>
          <a:solidFill>
            <a:srgbClr val="E2ECF9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48984" y="3696083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A64AA"/>
                </a:solidFill>
                <a:latin typeface="Aptos"/>
              </a:rPr>
              <a:t>WHAT IT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8984" y="4040091"/>
            <a:ext cx="7811728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600" dirty="0"/>
              <a:t>The revenue distribution is almost exactly proportional to the customer distribution, so gender does not appear to be a major differentiator in customer value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GB" sz="1600" dirty="0"/>
              <a:t>Both genders have similar average purchase amounts </a:t>
            </a:r>
            <a:r>
              <a:rPr lang="en-US" sz="1600" dirty="0"/>
              <a:t>which suggests that the revenue difference is primarily driven by customer volume rather than substantially different spending levels.</a:t>
            </a:r>
            <a:endParaRPr lang="en-GB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GB" sz="1600" dirty="0"/>
              <a:t>Prioritise behavioural segmentation over gender-based targeting</a:t>
            </a:r>
            <a:endParaRPr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740724E-B60F-5BF5-BF1A-1EF93E1A4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27235"/>
              </p:ext>
            </p:extLst>
          </p:nvPr>
        </p:nvGraphicFramePr>
        <p:xfrm>
          <a:off x="640080" y="1151472"/>
          <a:ext cx="640080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34903603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93572868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86997003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22211253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997792685"/>
                    </a:ext>
                  </a:extLst>
                </a:gridCol>
              </a:tblGrid>
              <a:tr h="321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% of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% of Revenue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208877"/>
                  </a:ext>
                </a:extLst>
              </a:tr>
              <a:tr h="321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2,652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68.0%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£157,890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67.7%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662950"/>
                  </a:ext>
                </a:extLst>
              </a:tr>
              <a:tr h="321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1,248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32.0%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£75,191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32.3%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155143"/>
                  </a:ext>
                </a:extLst>
              </a:tr>
              <a:tr h="321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3,900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£233,081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8505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>
                <a:solidFill>
                  <a:srgbClr val="141F31"/>
                </a:solidFill>
                <a:latin typeface="Aptos"/>
              </a:rPr>
              <a:t>Discounts do not automatically mean low-value baskets</a:t>
            </a:r>
            <a:endParaRPr sz="28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356085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839 customers used a discount and still spent above the average purchase amount.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7294"/>
            <a:ext cx="24231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14453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ABOVE-AVERAGE + DISCOUNTED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33909"/>
            <a:ext cx="209397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141F31"/>
                </a:solidFill>
                <a:latin typeface="Aptos"/>
              </a:rPr>
              <a:t>839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2822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77294"/>
            <a:ext cx="50292" cy="1078992"/>
          </a:xfrm>
          <a:prstGeom prst="rect">
            <a:avLst/>
          </a:prstGeom>
          <a:solidFill>
            <a:srgbClr val="E1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47288" y="1877294"/>
            <a:ext cx="24231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11880" y="2014453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SHARE OF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233909"/>
            <a:ext cx="209397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21.5%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672822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of customer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8" y="1877294"/>
            <a:ext cx="50292" cy="1078992"/>
          </a:xfrm>
          <a:prstGeom prst="rect">
            <a:avLst/>
          </a:prstGeom>
          <a:solidFill>
            <a:srgbClr val="1F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10407" y="3856661"/>
            <a:ext cx="4550074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76867" y="4089276"/>
            <a:ext cx="252049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b="1" dirty="0">
                <a:solidFill>
                  <a:srgbClr val="1F8584"/>
                </a:solidFill>
                <a:latin typeface="Aptos"/>
              </a:rPr>
              <a:t>Recommendation</a:t>
            </a:r>
            <a:endParaRPr b="1" dirty="0">
              <a:solidFill>
                <a:srgbClr val="1F858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76868" y="4524173"/>
            <a:ext cx="4265626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Use targeted discounts to encourage higher-value purchases and customer conversion, rather than relying on blanket discounts.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Test minimum-spend thresholds bundles.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Incorporate discounts into subscription model</a:t>
            </a:r>
            <a:endParaRPr sz="14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44" name="Rounded Rectangle 18">
            <a:extLst>
              <a:ext uri="{FF2B5EF4-FFF2-40B4-BE49-F238E27FC236}">
                <a16:creationId xmlns:a16="http://schemas.microsoft.com/office/drawing/2014/main" id="{A1C08F83-E3E9-FF19-1082-8BEB93CAF919}"/>
              </a:ext>
            </a:extLst>
          </p:cNvPr>
          <p:cNvSpPr/>
          <p:nvPr/>
        </p:nvSpPr>
        <p:spPr>
          <a:xfrm>
            <a:off x="658368" y="3856661"/>
            <a:ext cx="5905648" cy="2148840"/>
          </a:xfrm>
          <a:prstGeom prst="roundRect">
            <a:avLst/>
          </a:prstGeom>
          <a:solidFill>
            <a:srgbClr val="E2ECF9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71B0D4-C528-8414-9405-758C26E9BDE7}"/>
              </a:ext>
            </a:extLst>
          </p:cNvPr>
          <p:cNvSpPr txBox="1"/>
          <p:nvPr/>
        </p:nvSpPr>
        <p:spPr>
          <a:xfrm>
            <a:off x="896112" y="4021472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A64AA"/>
                </a:solidFill>
                <a:latin typeface="Aptos"/>
              </a:rPr>
              <a:t>WHAT IT MEANS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1C47C8-E8F6-08D6-9DEC-283511F439FD}"/>
              </a:ext>
            </a:extLst>
          </p:cNvPr>
          <p:cNvSpPr txBox="1"/>
          <p:nvPr/>
        </p:nvSpPr>
        <p:spPr>
          <a:xfrm>
            <a:off x="896112" y="4458607"/>
            <a:ext cx="5475191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400" dirty="0"/>
              <a:t>Discounts may motivate customers to make larger purchases (e.g., adding more products to reach a higher spending threshold)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400" dirty="0"/>
              <a:t>We can research shopping habits of these 839 customers to create more targeted campaigns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2800" b="1" dirty="0">
                <a:solidFill>
                  <a:srgbClr val="141F31"/>
                </a:solidFill>
                <a:latin typeface="Aptos"/>
              </a:rPr>
              <a:t>Top 5 products with highest average ratings</a:t>
            </a:r>
            <a:endParaRPr sz="28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30304"/>
            <a:ext cx="4389120" cy="3333136"/>
          </a:xfrm>
          <a:prstGeom prst="roundRect">
            <a:avLst/>
          </a:prstGeom>
          <a:solidFill>
            <a:srgbClr val="E2F2F0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42669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8584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4266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31"/>
                </a:solidFill>
                <a:latin typeface="Aptos"/>
              </a:rPr>
              <a:t>Gloves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742669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F2937"/>
                </a:solidFill>
                <a:latin typeface="Aptos"/>
              </a:rPr>
              <a:t>3.86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18741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858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18741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31"/>
                </a:solidFill>
                <a:latin typeface="Aptos"/>
              </a:rPr>
              <a:t>Sandals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18741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F2937"/>
                </a:solidFill>
                <a:latin typeface="Aptos"/>
              </a:rPr>
              <a:t>3.84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94813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858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94813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31"/>
                </a:solidFill>
                <a:latin typeface="Aptos"/>
              </a:rPr>
              <a:t>Boots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94813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F2937"/>
                </a:solidFill>
                <a:latin typeface="Aptos"/>
              </a:rPr>
              <a:t>3.82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0885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8584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70885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31"/>
                </a:solidFill>
                <a:latin typeface="Aptos"/>
              </a:rPr>
              <a:t>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470885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F2937"/>
                </a:solidFill>
                <a:latin typeface="Aptos"/>
              </a:rPr>
              <a:t>3.80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6957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8584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46957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1F31"/>
                </a:solidFill>
                <a:latin typeface="Aptos"/>
              </a:rPr>
              <a:t>Skirt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046957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F2937"/>
                </a:solidFill>
                <a:latin typeface="Aptos"/>
              </a:rPr>
              <a:t>3.79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59136665-B4F5-149C-CED0-C9C0A8C6CC48}"/>
              </a:ext>
            </a:extLst>
          </p:cNvPr>
          <p:cNvSpPr/>
          <p:nvPr/>
        </p:nvSpPr>
        <p:spPr>
          <a:xfrm>
            <a:off x="5669280" y="1280160"/>
            <a:ext cx="5905648" cy="2534756"/>
          </a:xfrm>
          <a:prstGeom prst="roundRect">
            <a:avLst/>
          </a:prstGeom>
          <a:solidFill>
            <a:srgbClr val="E2ECF9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2A2A92-64C2-A314-536C-022DEF8FF1AA}"/>
              </a:ext>
            </a:extLst>
          </p:cNvPr>
          <p:cNvSpPr txBox="1"/>
          <p:nvPr/>
        </p:nvSpPr>
        <p:spPr>
          <a:xfrm>
            <a:off x="5872852" y="1492579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A64AA"/>
                </a:solidFill>
                <a:latin typeface="Aptos"/>
              </a:rPr>
              <a:t>WHAT IT MEANS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4A2FC0-CE88-232C-A98E-2B13E5C86129}"/>
              </a:ext>
            </a:extLst>
          </p:cNvPr>
          <p:cNvSpPr txBox="1"/>
          <p:nvPr/>
        </p:nvSpPr>
        <p:spPr>
          <a:xfrm>
            <a:off x="5872852" y="1929714"/>
            <a:ext cx="5602868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400" dirty="0"/>
              <a:t>These products may be perceived as high quality or good value.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400" dirty="0"/>
              <a:t>These could be strong candidates for marketing campaigns, recommendations &amp; cross-selling.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400" dirty="0"/>
              <a:t>They may deserve greater attention when deciding which products to keep in stock or expand, although other factors  such as sales volume and repeat purchases should also be considered.</a:t>
            </a:r>
          </a:p>
        </p:txBody>
      </p:sp>
      <p:sp>
        <p:nvSpPr>
          <p:cNvPr id="34" name="Rounded Rectangle 24">
            <a:extLst>
              <a:ext uri="{FF2B5EF4-FFF2-40B4-BE49-F238E27FC236}">
                <a16:creationId xmlns:a16="http://schemas.microsoft.com/office/drawing/2014/main" id="{C62259D4-FEE8-94C7-7AD8-10FA929301AB}"/>
              </a:ext>
            </a:extLst>
          </p:cNvPr>
          <p:cNvSpPr/>
          <p:nvPr/>
        </p:nvSpPr>
        <p:spPr>
          <a:xfrm>
            <a:off x="5669280" y="4270248"/>
            <a:ext cx="5852160" cy="16586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D075B8-0ACF-F7DD-A165-17F2678E5631}"/>
              </a:ext>
            </a:extLst>
          </p:cNvPr>
          <p:cNvSpPr txBox="1"/>
          <p:nvPr/>
        </p:nvSpPr>
        <p:spPr>
          <a:xfrm>
            <a:off x="5835740" y="4493070"/>
            <a:ext cx="252049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b="1" dirty="0">
                <a:solidFill>
                  <a:srgbClr val="1F8584"/>
                </a:solidFill>
                <a:latin typeface="Aptos"/>
              </a:rPr>
              <a:t>Recommendation</a:t>
            </a:r>
            <a:endParaRPr b="1" dirty="0">
              <a:solidFill>
                <a:srgbClr val="1F8584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963FAF-C2C7-DD67-4276-8F573A75A61D}"/>
              </a:ext>
            </a:extLst>
          </p:cNvPr>
          <p:cNvSpPr txBox="1"/>
          <p:nvPr/>
        </p:nvSpPr>
        <p:spPr>
          <a:xfrm>
            <a:off x="5835740" y="4852881"/>
            <a:ext cx="5502819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Feature them on website &amp; social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Prioritise them in search results and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Identify complementary products and create bundles or deals around them</a:t>
            </a:r>
            <a:endParaRPr sz="1400" b="1" dirty="0">
              <a:solidFill>
                <a:srgbClr val="141F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1"/>
                </a:solidFill>
                <a:latin typeface="Aptos"/>
              </a:rPr>
              <a:t>Faster shipping is associated with higher average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2-Day Shipping has the highest average purchase amount, followed by Express.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0020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600200"/>
            <a:ext cx="3886200" cy="4206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54112" y="19202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64AA"/>
                </a:solidFill>
                <a:latin typeface="Aptos"/>
              </a:rPr>
              <a:t>READ THIS AS AN ASSOCIATION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2395728"/>
            <a:ext cx="2971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1F31"/>
                </a:solidFill>
                <a:latin typeface="Aptos"/>
              </a:rPr>
              <a:t>Customers choosing faster delivery are also higher-value shoppers.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3566160"/>
            <a:ext cx="3063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Promote premium delivery where order value justifies it.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Test whether faster delivery increases conversion or simply reflects high-intent customers.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Consider delivery upgrades as a revenue lever, not only a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1"/>
                </a:solidFill>
                <a:latin typeface="Aptos"/>
              </a:rPr>
              <a:t>The current subscription proposition is not lifting basket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Subscribers average £59.49 versus £59.87 for non-subscribers.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91639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SUBSCRIBERS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11095"/>
            <a:ext cx="223113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1,053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50008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0292" cy="1078992"/>
          </a:xfrm>
          <a:prstGeom prst="rect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5603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691639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SUBSCRIBER AVG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911095"/>
            <a:ext cx="223113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£59.49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554480"/>
            <a:ext cx="50292" cy="1078992"/>
          </a:xfrm>
          <a:prstGeom prst="rect">
            <a:avLst/>
          </a:prstGeom>
          <a:solidFill>
            <a:srgbClr val="1F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5603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691639"/>
            <a:ext cx="2231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NON-SUBSCRIBER AVG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11095"/>
            <a:ext cx="223113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£59.87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0292" cy="1078992"/>
          </a:xfrm>
          <a:prstGeom prst="rect">
            <a:avLst/>
          </a:prstGeom>
          <a:solidFill>
            <a:srgbClr val="E1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61120" y="1554480"/>
            <a:ext cx="233172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1691639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1911095"/>
            <a:ext cx="200253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-£0.38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350008"/>
            <a:ext cx="20025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per purchase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554480"/>
            <a:ext cx="50292" cy="1078992"/>
          </a:xfrm>
          <a:prstGeom prst="rect">
            <a:avLst/>
          </a:prstGeom>
          <a:solidFill>
            <a:srgbClr val="BE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2971800"/>
            <a:ext cx="5257800" cy="2423160"/>
          </a:xfrm>
          <a:prstGeom prst="roundRect">
            <a:avLst/>
          </a:prstGeom>
          <a:solidFill>
            <a:srgbClr val="F8E5E5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2735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E4A4A"/>
                </a:solidFill>
                <a:latin typeface="Aptos"/>
              </a:rPr>
              <a:t>WHAT TO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657600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rPr dirty="0"/>
              <a:t>• Build benefits around frequency, convenience and exclusive value.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rPr dirty="0"/>
              <a:t>• Use personalised offers to convert highly engaged shoppers.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rPr dirty="0"/>
              <a:t>• Track retention and purchase frequency alongside basket size.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971800"/>
            <a:ext cx="5074920" cy="2423160"/>
          </a:xfrm>
          <a:prstGeom prst="roundRect">
            <a:avLst/>
          </a:prstGeom>
          <a:solidFill>
            <a:srgbClr val="E2ECF9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32735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64AA"/>
                </a:solidFill>
                <a:latin typeface="Aptos"/>
              </a:rPr>
              <a:t>IMPORTANT NUANCE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657600"/>
            <a:ext cx="4297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1F31"/>
                </a:solidFill>
                <a:latin typeface="Aptos"/>
              </a:rPr>
              <a:t>Similar spend ≠ similar lifetime value.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15968"/>
            <a:ext cx="4114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Subscription may still improve retention, but that hypothesis needs cohort-level validation.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1"/>
                </a:solidFill>
                <a:latin typeface="Aptos"/>
              </a:rPr>
              <a:t>Discounting is concentrated in five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Hat, Sneakers, Coat, Sweater and Pants have the highest share of purchases with discounts.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45920"/>
          <a:ext cx="6492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645920"/>
            <a:ext cx="3840480" cy="4297680"/>
          </a:xfrm>
          <a:prstGeom prst="roundRect">
            <a:avLst/>
          </a:prstGeom>
          <a:solidFill>
            <a:srgbClr val="FAEDDC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1822D"/>
                </a:solidFill>
                <a:latin typeface="Aptos"/>
              </a:rP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9572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1F31"/>
                </a:solidFill>
                <a:latin typeface="Aptos"/>
              </a:rPr>
              <a:t>Two possible explanations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9718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Customers are more price-sensitive for these products.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ptos"/>
              </a:defRPr>
            </a:pPr>
            <a:r>
              <a:t>• These products may simply be featured more often in promotions.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3434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1822D"/>
                </a:solidFill>
                <a:latin typeface="Aptos"/>
              </a:rPr>
              <a:t>Next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70916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Compare discount rate with conversion, units per order and gross margin.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41F31"/>
                </a:solidFill>
                <a:latin typeface="Aptos"/>
              </a:rPr>
              <a:t>The customer base is dominated by loyal shoppers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213" y="1307593"/>
            <a:ext cx="18288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4805" y="1444752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LOYAL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805" y="1664208"/>
            <a:ext cx="149961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3,116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805" y="2103121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79.9%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213" y="1307593"/>
            <a:ext cx="50292" cy="1078992"/>
          </a:xfrm>
          <a:prstGeom prst="rect">
            <a:avLst/>
          </a:prstGeom>
          <a:solidFill>
            <a:srgbClr val="34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31892" y="1307593"/>
            <a:ext cx="18288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96484" y="1444752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RETURNING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6484" y="1664208"/>
            <a:ext cx="149961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701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6484" y="2103121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18.0%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1892" y="1307593"/>
            <a:ext cx="50292" cy="1078992"/>
          </a:xfrm>
          <a:prstGeom prst="rect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743573" y="1307593"/>
            <a:ext cx="18288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08165" y="1444752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8165" y="1664208"/>
            <a:ext cx="149961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8165" y="2103121"/>
            <a:ext cx="14996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2.1%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43573" y="1307593"/>
            <a:ext cx="50292" cy="1078992"/>
          </a:xfrm>
          <a:prstGeom prst="rect">
            <a:avLst/>
          </a:prstGeom>
          <a:solidFill>
            <a:srgbClr val="E1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9468" y="2921471"/>
            <a:ext cx="5623560" cy="29668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9BE792-247F-C6D5-D2A2-93ACFE67ACFF}"/>
              </a:ext>
            </a:extLst>
          </p:cNvPr>
          <p:cNvSpPr txBox="1"/>
          <p:nvPr/>
        </p:nvSpPr>
        <p:spPr>
          <a:xfrm>
            <a:off x="882347" y="3232477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2A64AA"/>
                </a:solidFill>
                <a:latin typeface="Aptos"/>
              </a:rPr>
              <a:t>WHAT IT MEANS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8B4C87-D0AB-2FFA-FB37-226C950D6E11}"/>
              </a:ext>
            </a:extLst>
          </p:cNvPr>
          <p:cNvSpPr txBox="1"/>
          <p:nvPr/>
        </p:nvSpPr>
        <p:spPr>
          <a:xfrm>
            <a:off x="864060" y="3679967"/>
            <a:ext cx="5522976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600" dirty="0"/>
              <a:t>Retention looks healthy but acquisition may be the bottleneck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600" dirty="0"/>
              <a:t>The business may be heavily dependent on its existing customer base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r>
              <a:rPr lang="en-US" sz="1600" dirty="0"/>
              <a:t>Potential growth opportunity lies with returning customers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050">
                <a:solidFill>
                  <a:srgbClr val="1F2937"/>
                </a:solidFill>
                <a:latin typeface="Aptos"/>
              </a:defRPr>
            </a:pPr>
            <a:endParaRPr lang="en-US" sz="1600" dirty="0"/>
          </a:p>
        </p:txBody>
      </p:sp>
      <p:sp>
        <p:nvSpPr>
          <p:cNvPr id="32" name="Rounded Rectangle 24">
            <a:extLst>
              <a:ext uri="{FF2B5EF4-FFF2-40B4-BE49-F238E27FC236}">
                <a16:creationId xmlns:a16="http://schemas.microsoft.com/office/drawing/2014/main" id="{AC7DC121-64B0-1742-0A23-EE3ECEFB9D30}"/>
              </a:ext>
            </a:extLst>
          </p:cNvPr>
          <p:cNvSpPr/>
          <p:nvPr/>
        </p:nvSpPr>
        <p:spPr>
          <a:xfrm>
            <a:off x="6725069" y="2921471"/>
            <a:ext cx="4750651" cy="29668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EE5440-DDF4-4EE6-D23C-D2C695EC3231}"/>
              </a:ext>
            </a:extLst>
          </p:cNvPr>
          <p:cNvSpPr txBox="1"/>
          <p:nvPr/>
        </p:nvSpPr>
        <p:spPr>
          <a:xfrm>
            <a:off x="6891530" y="3155533"/>
            <a:ext cx="263160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b="1" dirty="0">
                <a:solidFill>
                  <a:srgbClr val="1F8584"/>
                </a:solidFill>
                <a:latin typeface="Aptos"/>
              </a:rPr>
              <a:t>Recommendation</a:t>
            </a:r>
            <a:endParaRPr b="1" dirty="0">
              <a:solidFill>
                <a:srgbClr val="1F8584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3410E3-2E95-B1C5-7B8A-18F30180638C}"/>
              </a:ext>
            </a:extLst>
          </p:cNvPr>
          <p:cNvSpPr txBox="1"/>
          <p:nvPr/>
        </p:nvSpPr>
        <p:spPr>
          <a:xfrm>
            <a:off x="6891531" y="3560349"/>
            <a:ext cx="4453664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Invest in acquisition channels such as social media advertising, and first-purchase incentives to broaden the customer base.</a:t>
            </a:r>
          </a:p>
          <a:p>
            <a:endParaRPr lang="en-US" sz="1400" b="1" dirty="0">
              <a:solidFill>
                <a:srgbClr val="141F31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Create personalised offers and loyalty incentives designed for returning customers</a:t>
            </a:r>
          </a:p>
          <a:p>
            <a:endParaRPr lang="en-US" sz="1400" b="1" dirty="0">
              <a:solidFill>
                <a:srgbClr val="141F31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41F31"/>
                </a:solidFill>
                <a:latin typeface="Aptos"/>
              </a:rPr>
              <a:t>Create a referral programme by leveraging the large loyal customer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141F31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400" b="1" dirty="0">
              <a:solidFill>
                <a:srgbClr val="141F3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1"/>
                </a:solidFill>
                <a:latin typeface="Aptos"/>
              </a:rPr>
              <a:t>Highly engaged customers are a major subscription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Only 958 of 3,476 repeat buyers are subscribed.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146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91639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REPEAT BUYERS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11095"/>
            <a:ext cx="218541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3,476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50008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previous purchases &gt;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50292" cy="1078992"/>
          </a:xfrm>
          <a:prstGeom prst="rect">
            <a:avLst/>
          </a:prstGeom>
          <a:solidFill>
            <a:srgbClr val="2A6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5146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691639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SUBSCRIBED REPEAT BUYERS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11095"/>
            <a:ext cx="218541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958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554480"/>
            <a:ext cx="50292" cy="1078992"/>
          </a:xfrm>
          <a:prstGeom prst="rect">
            <a:avLst/>
          </a:prstGeom>
          <a:solidFill>
            <a:srgbClr val="1F8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5146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691639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NOT SUBSCRIBED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911095"/>
            <a:ext cx="218541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2,518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50292" cy="1078992"/>
          </a:xfrm>
          <a:prstGeom prst="rect">
            <a:avLst/>
          </a:prstGeom>
          <a:solidFill>
            <a:srgbClr val="E1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23960" y="1554480"/>
            <a:ext cx="251460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88552" y="1691639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Aptos"/>
              </a:rPr>
              <a:t>SUBSCRIPTION PENETRATION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911095"/>
            <a:ext cx="218541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1F31"/>
                </a:solidFill>
                <a:latin typeface="Aptos"/>
              </a:rPr>
              <a:t>27.6%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350008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among repeat buyers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554480"/>
            <a:ext cx="50292" cy="1078992"/>
          </a:xfrm>
          <a:prstGeom prst="rect">
            <a:avLst/>
          </a:prstGeom>
          <a:solidFill>
            <a:srgbClr val="BE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3063240"/>
            <a:ext cx="10607040" cy="2286000"/>
          </a:xfrm>
          <a:prstGeom prst="roundRect">
            <a:avLst/>
          </a:prstGeom>
          <a:solidFill>
            <a:srgbClr val="E2ECF9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336499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64AA"/>
                </a:solidFill>
                <a:latin typeface="Aptos"/>
              </a:rPr>
              <a:t>BIGGEST UNLOCK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730752"/>
            <a:ext cx="5266944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141F31"/>
                </a:solidFill>
                <a:latin typeface="Aptos"/>
              </a:rPr>
              <a:t>Convert engagement into membership.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343400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4748B"/>
                </a:solidFill>
                <a:latin typeface="Aptos"/>
              </a:rPr>
              <a:t>Use triggered offers after repeat milestones, exclusive pricing, convenience benefits and personalised rewards. This is a warm audience—not a cold acquisition problem.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2800" b="1" dirty="0">
                <a:solidFill>
                  <a:srgbClr val="141F31"/>
                </a:solidFill>
                <a:latin typeface="Aptos"/>
              </a:rPr>
              <a:t>Top 3 best sellers of each category</a:t>
            </a:r>
            <a:endParaRPr sz="2800" b="1" dirty="0">
              <a:solidFill>
                <a:srgbClr val="141F3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4748B"/>
                </a:solidFill>
                <a:latin typeface="Aptos"/>
              </a:rPr>
              <a:t>Prioritise proven sellers for inventory planning, cross-sell and merchandising.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Accessories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00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22576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79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7004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Sunglasses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44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Belt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Clothing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35000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22576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Blouse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697479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67004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Pants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044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1752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Shirt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931920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Footwear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817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54296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Sandals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02920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00176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Shoes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37667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Sneaker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931920"/>
            <a:ext cx="5166360" cy="1965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1605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1F31"/>
                </a:solidFill>
                <a:latin typeface="Aptos"/>
              </a:rPr>
              <a:t>Outerwear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46817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654296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Jacket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59" y="502920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001768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Coat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41F31"/>
                </a:solidFill>
                <a:latin typeface="Aptos"/>
              </a:rPr>
              <a:t>Young Adults and Middle-Aged customers lead revenue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These cohorts represent the strongest revenue-generating demographic.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502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2A64AA"/>
                </a:solidFill>
                <a:latin typeface="Aptos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45920"/>
          <a:ext cx="6492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645920"/>
            <a:ext cx="3840480" cy="4297680"/>
          </a:xfrm>
          <a:prstGeom prst="roundRect">
            <a:avLst/>
          </a:prstGeom>
          <a:solidFill>
            <a:srgbClr val="E2F2F0"/>
          </a:solidFill>
          <a:ln w="8890"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8584"/>
                </a:solidFill>
                <a:latin typeface="Aptos"/>
              </a:rPr>
              <a:t>MARKETING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95728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1F31"/>
                </a:solidFill>
                <a:latin typeface="Aptos"/>
              </a:rPr>
              <a:t>Protect the cohorts that already produce the most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401568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Tailor creative and offers by age cohort.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Then test whether the strongest cohorts also have higher frequency or basket size.</a:t>
            </a:r>
          </a:p>
          <a:p>
            <a:pPr>
              <a:spcAft>
                <a:spcPts val="80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t>• Do not optimise solely for revenue—include retention and margin.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What management should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078992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0C2D9"/>
                </a:solidFill>
                <a:latin typeface="Aptos"/>
              </a:rPr>
              <a:t>Turn the analysis into a test-and-learn commercial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916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8AAD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733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Grow 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20824"/>
            <a:ext cx="4434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6D3E5"/>
                </a:solidFill>
                <a:latin typeface="Aptos"/>
              </a:rPr>
              <a:t>Loyalty is strong but the new-customer pool is small. Invest in acquisition and first-to-second purchase conversion.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69164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8AAD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733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Redesign subscription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20824"/>
            <a:ext cx="4434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6D3E5"/>
                </a:solidFill>
                <a:latin typeface="Aptos"/>
              </a:rPr>
              <a:t>Target repeat buyers with benefits that increase frequency, convenience and perceived value—not just a membership badge.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00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8AAD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821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Make discounts smarter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29584"/>
            <a:ext cx="4434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6D3E5"/>
                </a:solidFill>
                <a:latin typeface="Aptos"/>
              </a:rPr>
              <a:t>Target promotions to high-value baskets and discount-sensitive products; optimise for incremental margin.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3200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8AAD7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821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Merchandise winners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29584"/>
            <a:ext cx="4434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C6D3E5"/>
                </a:solidFill>
                <a:latin typeface="Aptos"/>
              </a:rPr>
              <a:t>Prioritise high-rated and top-purchased products in inventory, recommendations and campaigns.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0916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8AAD7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908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Monetise fulfilment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38344"/>
            <a:ext cx="4434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6D3E5"/>
                </a:solidFill>
                <a:latin typeface="Aptos"/>
              </a:rPr>
              <a:t>Test premium delivery upgrades and threshold-based offers around higher-value orders.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70916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8AAD7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69087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Deepen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38344"/>
            <a:ext cx="4434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C6D3E5"/>
                </a:solidFill>
                <a:latin typeface="Aptos"/>
              </a:rPr>
              <a:t>Combine gender, age, product mix, frequency and shipping choice to build actionable customer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44768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0C2D9"/>
                </a:solidFill>
                <a:latin typeface="Aptos"/>
              </a:rPr>
              <a:t>Recommended operating model: KPI dashboard → hypothesis → A/B test → margin &amp; retention readout → scale / stop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9808" y="1234440"/>
            <a:ext cx="8046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1F31"/>
                </a:solidFill>
                <a:latin typeface="Aptos"/>
              </a:rPr>
              <a:t>The data shows a healthy core —
with clear opportunities to 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78892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64AA"/>
                </a:solidFill>
                <a:latin typeface="Aptos"/>
              </a:rPr>
              <a:t>Strong loyalty + engaged repeat buyers + high-value product 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1225</Words>
  <Application>Microsoft Office PowerPoint</Application>
  <PresentationFormat>Widescreen</PresentationFormat>
  <Paragraphs>265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Mann Shah</cp:lastModifiedBy>
  <cp:revision>2</cp:revision>
  <dcterms:created xsi:type="dcterms:W3CDTF">2013-01-27T09:14:16Z</dcterms:created>
  <dcterms:modified xsi:type="dcterms:W3CDTF">2026-09-08T22:29:53Z</dcterms:modified>
  <cp:category/>
</cp:coreProperties>
</file>