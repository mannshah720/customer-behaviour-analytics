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10"/>
  <c:chart>
    <c:title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Male</c:v>
                </c:pt>
                <c:pt idx="1">
                  <c:v>Female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157890</c:v>
                </c:pt>
                <c:pt idx="1">
                  <c:v>75191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17-4221-96A6-16CDE390662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10"/>
  <c:chart>
    <c:title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Avg rating</c:v>
                </c:pt>
              </c:strCache>
            </c:strRef>
          </c:tx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Gloves</c:v>
                </c:pt>
                <c:pt idx="1">
                  <c:v>Sandals</c:v>
                </c:pt>
                <c:pt idx="2">
                  <c:v>Boots</c:v>
                </c:pt>
                <c:pt idx="3">
                  <c:v>Hat</c:v>
                </c:pt>
                <c:pt idx="4">
                  <c:v>Skirt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3.8627737226277374</c:v>
                </c:pt>
                <c:pt idx="1">
                  <c:v>3.8446540880503144</c:v>
                </c:pt>
                <c:pt idx="2">
                  <c:v>3.8188811188811189</c:v>
                </c:pt>
                <c:pt idx="3">
                  <c:v>3.8013071895424839</c:v>
                </c:pt>
                <c:pt idx="4">
                  <c:v>3.7853503184713371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45-455B-833A-58CBC3CABB6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10"/>
  <c:chart>
    <c:title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Avg purchase</c:v>
                </c:pt>
              </c:strCache>
            </c:strRef>
          </c:tx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2-Day Shipping</c:v>
                </c:pt>
                <c:pt idx="1">
                  <c:v>Express</c:v>
                </c:pt>
                <c:pt idx="2">
                  <c:v>Free Shipping</c:v>
                </c:pt>
                <c:pt idx="3">
                  <c:v>Next Day Air</c:v>
                </c:pt>
                <c:pt idx="4">
                  <c:v>Standard</c:v>
                </c:pt>
                <c:pt idx="5">
                  <c:v>Store Pickup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60.733652312599681</c:v>
                </c:pt>
                <c:pt idx="1">
                  <c:v>60.475232198142415</c:v>
                </c:pt>
                <c:pt idx="2">
                  <c:v>60.410370370370373</c:v>
                </c:pt>
                <c:pt idx="3">
                  <c:v>58.631172839506171</c:v>
                </c:pt>
                <c:pt idx="4">
                  <c:v>58.460244648318046</c:v>
                </c:pt>
                <c:pt idx="5">
                  <c:v>59.893846153846155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ACB-49BA-BD65-8F14699F95C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10"/>
  <c:chart>
    <c:title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% discounted</c:v>
                </c:pt>
              </c:strCache>
            </c:strRef>
          </c:tx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Hat</c:v>
                </c:pt>
                <c:pt idx="1">
                  <c:v>Sneakers</c:v>
                </c:pt>
                <c:pt idx="2">
                  <c:v>Coat</c:v>
                </c:pt>
                <c:pt idx="3">
                  <c:v>Sweater</c:v>
                </c:pt>
                <c:pt idx="4">
                  <c:v>Pants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</c:v>
                </c:pt>
                <c:pt idx="1">
                  <c:v>49.655172413793103</c:v>
                </c:pt>
                <c:pt idx="2">
                  <c:v>49.068322981366457</c:v>
                </c:pt>
                <c:pt idx="3">
                  <c:v>48.170731707317074</c:v>
                </c:pt>
                <c:pt idx="4">
                  <c:v>47.368421052631575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FAB-4E31-99A5-3893F8199EE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10"/>
  <c:chart>
    <c:title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Loyal</c:v>
                </c:pt>
                <c:pt idx="1">
                  <c:v>Returning</c:v>
                </c:pt>
                <c:pt idx="2">
                  <c:v>New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3116</c:v>
                </c:pt>
                <c:pt idx="1">
                  <c:v>701</c:v>
                </c:pt>
                <c:pt idx="2">
                  <c:v>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429-4FA1-8339-D049E4DC29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10"/>
  <c:chart>
    <c:title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Young Adults (18–30)</c:v>
                </c:pt>
                <c:pt idx="1">
                  <c:v>Middle-Aged (31–45)</c:v>
                </c:pt>
                <c:pt idx="2">
                  <c:v>Older Adults (46–60)</c:v>
                </c:pt>
                <c:pt idx="3">
                  <c:v>61+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62143</c:v>
                </c:pt>
                <c:pt idx="1">
                  <c:v>64381</c:v>
                </c:pt>
                <c:pt idx="2">
                  <c:v>67565</c:v>
                </c:pt>
                <c:pt idx="3">
                  <c:v>38992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521-44DC-A387-A2C867FDDBE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1097280"/>
            <a:ext cx="685800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"/>
              </a:rPr>
              <a:t>CUSTOMER SHOPPING
BEHAVIOUR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761488"/>
            <a:ext cx="6217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ECFE4"/>
                </a:solidFill>
                <a:latin typeface="Aptos"/>
              </a:rPr>
              <a:t>From transactional data to commercial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09560" y="1234440"/>
            <a:ext cx="1005840" cy="1325880"/>
          </a:xfrm>
          <a:prstGeom prst="roundRect">
            <a:avLst/>
          </a:prstGeom>
          <a:solidFill>
            <a:srgbClr val="1E2C41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01000" y="1444752"/>
            <a:ext cx="822960" cy="20313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" b="1">
                <a:solidFill>
                  <a:srgbClr val="A6BBD4"/>
                </a:solidFill>
                <a:latin typeface="Aptos"/>
              </a:rPr>
              <a:t>CUSTOMERS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1856231"/>
            <a:ext cx="859536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3,900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234440"/>
            <a:ext cx="1005840" cy="1325880"/>
          </a:xfrm>
          <a:prstGeom prst="roundRect">
            <a:avLst/>
          </a:prstGeom>
          <a:solidFill>
            <a:srgbClr val="1E2C41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235440" y="1444752"/>
            <a:ext cx="822960" cy="20313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" b="1">
                <a:solidFill>
                  <a:srgbClr val="A6BBD4"/>
                </a:solidFill>
                <a:latin typeface="Aptos"/>
              </a:rPr>
              <a:t>SUBSCRIBERS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17152" y="1856231"/>
            <a:ext cx="859536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1,053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378440" y="1234440"/>
            <a:ext cx="1005840" cy="1325880"/>
          </a:xfrm>
          <a:prstGeom prst="roundRect">
            <a:avLst/>
          </a:prstGeom>
          <a:solidFill>
            <a:srgbClr val="1E2C41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469880" y="1444752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" b="1">
                <a:solidFill>
                  <a:srgbClr val="A6BBD4"/>
                </a:solidFill>
                <a:latin typeface="Aptos"/>
              </a:rPr>
              <a:t>REPEAT BUYERS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1592" y="1856231"/>
            <a:ext cx="859536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3,476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41F31"/>
                </a:solidFill>
                <a:latin typeface="Aptos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33271"/>
            <a:ext cx="10424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Aptos"/>
              </a:rPr>
              <a:t>The dataset points to strong loyalty, a clear male revenue skew, and a subscription proposition that needs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78440" y="502920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50" b="1">
                <a:solidFill>
                  <a:srgbClr val="2A64AA"/>
                </a:solidFill>
                <a:latin typeface="Aptos"/>
              </a:rP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627632"/>
            <a:ext cx="5257800" cy="17373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6968" y="1810512"/>
            <a:ext cx="4754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1F31"/>
                </a:solidFill>
                <a:latin typeface="Aptos"/>
              </a:rPr>
              <a:t>Revenue concentration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194560"/>
            <a:ext cx="4754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Male customers generate £157.9k vs £75.2k from female customers.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88920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2A64AA"/>
                </a:solidFill>
                <a:latin typeface="Aptos"/>
              </a:rPr>
              <a:t>COMMERCIAL OPPORTUNITY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1136" y="2752344"/>
            <a:ext cx="3337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Aptos"/>
              </a:rPr>
              <a:t>Investigate mix, basket size and product preference.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627632"/>
            <a:ext cx="5257800" cy="17373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83096" y="1810512"/>
            <a:ext cx="4754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1F31"/>
                </a:solidFill>
                <a:latin typeface="Aptos"/>
              </a:rPr>
              <a:t>Discounts can coexist with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2194560"/>
            <a:ext cx="4754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839 customers used a discount and still spent above the average purchase amount.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2788920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2A64AA"/>
                </a:solidFill>
                <a:latin typeface="Aptos"/>
              </a:rPr>
              <a:t>PRICING OPPORTUNITY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27264" y="2752344"/>
            <a:ext cx="3337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Aptos"/>
              </a:rPr>
              <a:t>Target offers around high-value baskets, not blanket discounting.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85032"/>
            <a:ext cx="5257800" cy="17373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6968" y="3867912"/>
            <a:ext cx="4754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1F31"/>
                </a:solidFill>
                <a:latin typeface="Aptos"/>
              </a:rPr>
              <a:t>Loyalty is strong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4251960"/>
            <a:ext cx="4754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3,116 customers are classified as loyal, while only 83 are new.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4846320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2A64AA"/>
                </a:solidFill>
                <a:latin typeface="Aptos"/>
              </a:rPr>
              <a:t>GROWTH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31136" y="4809744"/>
            <a:ext cx="3337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Aptos"/>
              </a:rPr>
              <a:t>Retention looks healthy; acquisition needs more attention.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4496" y="3685032"/>
            <a:ext cx="5257800" cy="17373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83096" y="3867912"/>
            <a:ext cx="4754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1F31"/>
                </a:solidFill>
                <a:latin typeface="Aptos"/>
              </a:rPr>
              <a:t>Subscription is underperforming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83096" y="4251960"/>
            <a:ext cx="4754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Subscribers average £59.49 vs £59.87 for non-subscribers.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3096" y="4846320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2A64AA"/>
                </a:solidFill>
                <a:latin typeface="Aptos"/>
              </a:rPr>
              <a:t>PROGRAMME REDESIGN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27264" y="4809744"/>
            <a:ext cx="3337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Aptos"/>
              </a:rPr>
              <a:t>Rebuild benefits around frequency, value and engagement.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7395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64748B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41F31"/>
                </a:solidFill>
                <a:latin typeface="Aptos"/>
              </a:rPr>
              <a:t>From raw transactions to business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33271"/>
            <a:ext cx="10424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Aptos"/>
              </a:rPr>
              <a:t>A simple analytical flow keeps the work reproducible and decision-focused.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78440" y="502920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50" b="1">
                <a:solidFill>
                  <a:srgbClr val="2A64AA"/>
                </a:solidFill>
                <a:latin typeface="Aptos"/>
              </a:rP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74519"/>
            <a:ext cx="2377440" cy="19659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2075688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A64AA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542032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1F31"/>
                </a:solidFill>
                <a:latin typeface="Aptos"/>
              </a:rPr>
              <a:t>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907792"/>
            <a:ext cx="193852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Aptos"/>
              </a:rPr>
              <a:t>Standardise fields,
remove errors, validate types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587752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64748B"/>
                </a:solidFill>
                <a:latin typeface="Apto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39" y="1874519"/>
            <a:ext cx="2377440" cy="19659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21607" y="2075688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A64AA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1607" y="2542032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1F31"/>
                </a:solidFill>
                <a:latin typeface="Aptos"/>
              </a:rPr>
              <a:t>LOAD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7" y="2907792"/>
            <a:ext cx="193852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Aptos"/>
              </a:rPr>
              <a:t>Bring cleaned data into
PostgreSQL via pgAdmin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71031" y="2587752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64748B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59" y="1874519"/>
            <a:ext cx="2377440" cy="19659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10527" y="2075688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A64AA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7" y="2542032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1F31"/>
                </a:solidFill>
                <a:latin typeface="Aptos"/>
              </a:rPr>
              <a:t>QUERY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7" y="2907792"/>
            <a:ext cx="193852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Aptos"/>
              </a:rPr>
              <a:t>Use SQL to answer
commercial questions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59952" y="2587752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64748B"/>
                </a:solidFill>
                <a:latin typeface="Aptos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280" y="1874519"/>
            <a:ext cx="2377440" cy="19659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99448" y="2075688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A64AA"/>
                </a:solidFill>
                <a:latin typeface="Apto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9448" y="2542032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1F31"/>
                </a:solidFill>
                <a:latin typeface="Aptos"/>
              </a:rPr>
              <a:t>INTERPRET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9448" y="2907792"/>
            <a:ext cx="193852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Aptos"/>
              </a:rPr>
              <a:t>Translate metrics into
actions and hypotheses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448056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64AA"/>
                </a:solidFill>
                <a:latin typeface="Aptos"/>
              </a:rPr>
              <a:t>Analytical lens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828032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1F31"/>
                </a:solidFill>
                <a:latin typeface="Aptos"/>
              </a:rPr>
              <a:t>Revenue • pricing &amp; discounts • product quality • fulfilment • subscription • loyalty • demographics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7395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64748B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41F31"/>
                </a:solidFill>
                <a:latin typeface="Aptos"/>
              </a:rPr>
              <a:t>Revenue is heavily skewed toward male customers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33271"/>
            <a:ext cx="10424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Aptos"/>
              </a:rPr>
              <a:t>Male customers generated more than twice the revenue of female customers.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78440" y="502920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50" b="1">
                <a:solidFill>
                  <a:srgbClr val="2A64AA"/>
                </a:solidFill>
                <a:latin typeface="Aptos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256032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1645919"/>
            <a:ext cx="223113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64748B"/>
                </a:solidFill>
                <a:latin typeface="Aptos"/>
              </a:rPr>
              <a:t>MALE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1865376"/>
            <a:ext cx="223113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41F31"/>
                </a:solidFill>
                <a:latin typeface="Aptos"/>
              </a:rPr>
              <a:t>£157,890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508760"/>
            <a:ext cx="50292" cy="1078992"/>
          </a:xfrm>
          <a:prstGeom prst="rect">
            <a:avLst/>
          </a:prstGeom>
          <a:solidFill>
            <a:srgbClr val="2A6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474720" y="1508760"/>
            <a:ext cx="256032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39312" y="1645919"/>
            <a:ext cx="223113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64748B"/>
                </a:solidFill>
                <a:latin typeface="Aptos"/>
              </a:rPr>
              <a:t>FEMALE REVENUE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1865376"/>
            <a:ext cx="223113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41F31"/>
                </a:solidFill>
                <a:latin typeface="Aptos"/>
              </a:rPr>
              <a:t>£75,191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1508760"/>
            <a:ext cx="50292" cy="1078992"/>
          </a:xfrm>
          <a:prstGeom prst="rect">
            <a:avLst/>
          </a:prstGeom>
          <a:solidFill>
            <a:srgbClr val="1F8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217920" y="1508760"/>
            <a:ext cx="256032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82512" y="1645919"/>
            <a:ext cx="223113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64748B"/>
                </a:solidFill>
                <a:latin typeface="Aptos"/>
              </a:rPr>
              <a:t>TOTAL REVENUE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865376"/>
            <a:ext cx="223113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41F31"/>
                </a:solidFill>
                <a:latin typeface="Aptos"/>
              </a:rPr>
              <a:t>£233,081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508760"/>
            <a:ext cx="50292" cy="1078992"/>
          </a:xfrm>
          <a:prstGeom prst="rect">
            <a:avLst/>
          </a:prstGeom>
          <a:solidFill>
            <a:srgbClr val="141F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777240" y="2880360"/>
          <a:ext cx="5669280" cy="2971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6812280" y="2880360"/>
            <a:ext cx="4572000" cy="2971800"/>
          </a:xfrm>
          <a:prstGeom prst="roundRect">
            <a:avLst/>
          </a:prstGeom>
          <a:solidFill>
            <a:srgbClr val="E2ECF9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14032" y="3182112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2A64AA"/>
                </a:solidFill>
                <a:latin typeface="Aptos"/>
              </a:rPr>
              <a:t>WHAT IT MEANS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14032" y="3547872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141F31"/>
                </a:solidFill>
                <a:latin typeface="Aptos"/>
              </a:rPr>
              <a:t>A material gender revenue gap exists.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14032" y="4251960"/>
            <a:ext cx="374903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>
                <a:solidFill>
                  <a:srgbClr val="1F2937"/>
                </a:solidFill>
                <a:latin typeface="Aptos"/>
              </a:defRPr>
            </a:pPr>
            <a:r>
              <a:t>• Break the gap down by purchase frequency, basket size and category mix.</a:t>
            </a:r>
          </a:p>
          <a:p>
            <a:pPr>
              <a:spcAft>
                <a:spcPts val="800"/>
              </a:spcAft>
              <a:defRPr sz="1050">
                <a:solidFill>
                  <a:srgbClr val="1F2937"/>
                </a:solidFill>
                <a:latin typeface="Aptos"/>
              </a:defRPr>
            </a:pPr>
            <a:r>
              <a:t>• Avoid assuming gender alone drives value; test the underlying behaviours.</a:t>
            </a:r>
          </a:p>
          <a:p>
            <a:pPr>
              <a:spcAft>
                <a:spcPts val="800"/>
              </a:spcAft>
              <a:defRPr sz="1050">
                <a:solidFill>
                  <a:srgbClr val="1F2937"/>
                </a:solidFill>
                <a:latin typeface="Aptos"/>
              </a:defRPr>
            </a:pPr>
            <a:r>
              <a:t>• Use the result as a segmentation signal for deeper analysis.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7395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64748B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41F31"/>
                </a:solidFill>
                <a:latin typeface="Aptos"/>
              </a:rPr>
              <a:t>Discounts do not automatically mean low-value baskets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33271"/>
            <a:ext cx="10424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Aptos"/>
              </a:rPr>
              <a:t>839 customers used a discount and still spent above the average purchase amount.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78440" y="502920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50" b="1">
                <a:solidFill>
                  <a:srgbClr val="2A64AA"/>
                </a:solidFill>
                <a:latin typeface="Aptos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242316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1691639"/>
            <a:ext cx="209397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64748B"/>
                </a:solidFill>
                <a:latin typeface="Aptos"/>
              </a:rPr>
              <a:t>ABOVE-AVERAGE + DISCOUNTED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1911095"/>
            <a:ext cx="209397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41F31"/>
                </a:solidFill>
                <a:latin typeface="Aptos"/>
              </a:rPr>
              <a:t>839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350008"/>
            <a:ext cx="209397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customers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554480"/>
            <a:ext cx="50292" cy="1078992"/>
          </a:xfrm>
          <a:prstGeom prst="rect">
            <a:avLst/>
          </a:prstGeom>
          <a:solidFill>
            <a:srgbClr val="E18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337560" y="1554480"/>
            <a:ext cx="242316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02152" y="1691639"/>
            <a:ext cx="209397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64748B"/>
                </a:solidFill>
                <a:latin typeface="Aptos"/>
              </a:rPr>
              <a:t>CUSTOMER 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2" y="1911095"/>
            <a:ext cx="209397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41F31"/>
                </a:solidFill>
                <a:latin typeface="Aptos"/>
              </a:rPr>
              <a:t>3,900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7560" y="1554480"/>
            <a:ext cx="50292" cy="1078992"/>
          </a:xfrm>
          <a:prstGeom prst="rect">
            <a:avLst/>
          </a:prstGeom>
          <a:solidFill>
            <a:srgbClr val="141F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943600" y="1554480"/>
            <a:ext cx="242316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08192" y="1691639"/>
            <a:ext cx="209397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64748B"/>
                </a:solidFill>
                <a:latin typeface="Aptos"/>
              </a:rPr>
              <a:t>SHARE OF CUSTOMERS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08192" y="1911095"/>
            <a:ext cx="209397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41F31"/>
                </a:solidFill>
                <a:latin typeface="Aptos"/>
              </a:rPr>
              <a:t>21.5%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08192" y="2350008"/>
            <a:ext cx="209397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of customer base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0" y="1554480"/>
            <a:ext cx="50292" cy="1078992"/>
          </a:xfrm>
          <a:prstGeom prst="rect">
            <a:avLst/>
          </a:prstGeom>
          <a:solidFill>
            <a:srgbClr val="1F8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549640" y="1554480"/>
            <a:ext cx="2788920" cy="1078992"/>
          </a:xfrm>
          <a:prstGeom prst="roundRect">
            <a:avLst/>
          </a:prstGeom>
          <a:solidFill>
            <a:srgbClr val="FAEDDC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778240" y="1746504"/>
            <a:ext cx="7315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E1822D"/>
                </a:solidFill>
                <a:latin typeface="Aptos"/>
              </a:rPr>
              <a:t>SIGNAL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2057400"/>
            <a:ext cx="23317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41F31"/>
                </a:solidFill>
                <a:latin typeface="Aptos"/>
              </a:rPr>
              <a:t>Promotions may be helping unlock larger baskets.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0632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A64AA"/>
                </a:solidFill>
                <a:latin typeface="Aptos"/>
              </a:rPr>
              <a:t>Commercial implication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56432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F2937"/>
                </a:solidFill>
                <a:latin typeface="Aptos"/>
              </a:defRPr>
            </a:pPr>
            <a:r>
              <a:t>• Prioritise targeted discounts over universal markdowns.</a:t>
            </a:r>
          </a:p>
          <a:p>
            <a:pPr>
              <a:spcAft>
                <a:spcPts val="800"/>
              </a:spcAft>
              <a:defRPr sz="1200">
                <a:solidFill>
                  <a:srgbClr val="1F2937"/>
                </a:solidFill>
                <a:latin typeface="Aptos"/>
              </a:defRPr>
            </a:pPr>
            <a:r>
              <a:t>• Test minimum-spend thresholds and bundles.</a:t>
            </a:r>
          </a:p>
          <a:p>
            <a:pPr>
              <a:spcAft>
                <a:spcPts val="800"/>
              </a:spcAft>
              <a:defRPr sz="1200">
                <a:solidFill>
                  <a:srgbClr val="1F2937"/>
                </a:solidFill>
                <a:latin typeface="Aptos"/>
              </a:defRPr>
            </a:pPr>
            <a:r>
              <a:t>• Measure incremental revenue and margin—not just conversion.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063240"/>
            <a:ext cx="5166360" cy="2148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46520" y="3337560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F8584"/>
                </a:solidFill>
                <a:latin typeface="Aptos"/>
              </a:rPr>
              <a:t>Decision question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3730752"/>
            <a:ext cx="44805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41F31"/>
                </a:solidFill>
                <a:latin typeface="Aptos"/>
              </a:rPr>
              <a:t>Which discount mechanics create
incremental spend without eroding margin?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7395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64748B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41F31"/>
                </a:solidFill>
                <a:latin typeface="Aptos"/>
              </a:rPr>
              <a:t>A small group of products leads on review ratings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33271"/>
            <a:ext cx="10424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Aptos"/>
              </a:rPr>
              <a:t>The top five rated products are useful candidates for trust-led merchandising.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78440" y="502920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50" b="1">
                <a:solidFill>
                  <a:srgbClr val="2A64AA"/>
                </a:solidFill>
                <a:latin typeface="Aptos"/>
              </a:rPr>
              <a:t>05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31520" y="1600200"/>
          <a:ext cx="594360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949440" y="1600200"/>
            <a:ext cx="4389120" cy="4389120"/>
          </a:xfrm>
          <a:prstGeom prst="roundRect">
            <a:avLst/>
          </a:prstGeom>
          <a:solidFill>
            <a:srgbClr val="E2F2F0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223760" y="1874519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F8584"/>
                </a:solidFill>
                <a:latin typeface="Aptos"/>
              </a:rPr>
              <a:t>TOP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2359152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8584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359152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41F31"/>
                </a:solidFill>
                <a:latin typeface="Aptos"/>
              </a:rPr>
              <a:t>Gloves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2359152"/>
            <a:ext cx="594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1">
                <a:solidFill>
                  <a:srgbClr val="1F2937"/>
                </a:solidFill>
                <a:latin typeface="Aptos"/>
              </a:rPr>
              <a:t>3.86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935224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8584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935224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41F31"/>
                </a:solidFill>
                <a:latin typeface="Aptos"/>
              </a:rPr>
              <a:t>Sandals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935224"/>
            <a:ext cx="594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1">
                <a:solidFill>
                  <a:srgbClr val="1F2937"/>
                </a:solidFill>
                <a:latin typeface="Aptos"/>
              </a:rPr>
              <a:t>3.84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3511296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8584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511296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41F31"/>
                </a:solidFill>
                <a:latin typeface="Aptos"/>
              </a:rPr>
              <a:t>Boots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3511296"/>
            <a:ext cx="594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1">
                <a:solidFill>
                  <a:srgbClr val="1F2937"/>
                </a:solidFill>
                <a:latin typeface="Aptos"/>
              </a:rPr>
              <a:t>3.82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4087368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8584"/>
                </a:solidFill>
                <a:latin typeface="Apto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4087368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41F31"/>
                </a:solidFill>
                <a:latin typeface="Aptos"/>
              </a:rPr>
              <a:t>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87368"/>
            <a:ext cx="594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1">
                <a:solidFill>
                  <a:srgbClr val="1F2937"/>
                </a:solidFill>
                <a:latin typeface="Aptos"/>
              </a:rPr>
              <a:t>3.80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466344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8584"/>
                </a:solidFill>
                <a:latin typeface="Aptos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4663440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41F31"/>
                </a:solidFill>
                <a:latin typeface="Aptos"/>
              </a:rPr>
              <a:t>Skirt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4663440"/>
            <a:ext cx="594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1">
                <a:solidFill>
                  <a:srgbClr val="1F2937"/>
                </a:solidFill>
                <a:latin typeface="Aptos"/>
              </a:rPr>
              <a:t>3.79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5349240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F8584"/>
                </a:solidFill>
                <a:latin typeface="Aptos"/>
              </a:rPr>
              <a:t>Use cases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650992"/>
            <a:ext cx="374903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Aptos"/>
              </a:rPr>
              <a:t>Recommendations • social proof • premium placement • campaign creative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7395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64748B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41F31"/>
                </a:solidFill>
                <a:latin typeface="Aptos"/>
              </a:rPr>
              <a:t>Faster shipping is associated with higher average spend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33271"/>
            <a:ext cx="10424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Aptos"/>
              </a:rPr>
              <a:t>2-Day Shipping has the highest average purchase amount, followed by Express.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78440" y="502920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50" b="1">
                <a:solidFill>
                  <a:srgbClr val="2A64AA"/>
                </a:solidFill>
                <a:latin typeface="Aptos"/>
              </a:rPr>
              <a:t>06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31520" y="1600200"/>
          <a:ext cx="640080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452360" y="1600200"/>
            <a:ext cx="3886200" cy="42062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54112" y="1920240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2A64AA"/>
                </a:solidFill>
                <a:latin typeface="Aptos"/>
              </a:rPr>
              <a:t>READ THIS AS AN ASSOCIATION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54112" y="2395728"/>
            <a:ext cx="2971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141F31"/>
                </a:solidFill>
                <a:latin typeface="Aptos"/>
              </a:rPr>
              <a:t>Customers choosing faster delivery are also higher-value shoppers.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54112" y="3566160"/>
            <a:ext cx="30632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>
                <a:solidFill>
                  <a:srgbClr val="1F2937"/>
                </a:solidFill>
                <a:latin typeface="Aptos"/>
              </a:defRPr>
            </a:pPr>
            <a:r>
              <a:t>• Promote premium delivery where order value justifies it.</a:t>
            </a:r>
          </a:p>
          <a:p>
            <a:pPr>
              <a:spcAft>
                <a:spcPts val="800"/>
              </a:spcAft>
              <a:defRPr sz="1050">
                <a:solidFill>
                  <a:srgbClr val="1F2937"/>
                </a:solidFill>
                <a:latin typeface="Aptos"/>
              </a:defRPr>
            </a:pPr>
            <a:r>
              <a:t>• Test whether faster delivery increases conversion or simply reflects high-intent customers.</a:t>
            </a:r>
          </a:p>
          <a:p>
            <a:pPr>
              <a:spcAft>
                <a:spcPts val="800"/>
              </a:spcAft>
              <a:defRPr sz="1050">
                <a:solidFill>
                  <a:srgbClr val="1F2937"/>
                </a:solidFill>
                <a:latin typeface="Aptos"/>
              </a:defRPr>
            </a:pPr>
            <a:r>
              <a:t>• Consider delivery upgrades as a revenue lever, not only a cost.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7395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64748B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41F31"/>
                </a:solidFill>
                <a:latin typeface="Aptos"/>
              </a:rPr>
              <a:t>The current subscription proposition is not lifting basket size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33271"/>
            <a:ext cx="10424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Aptos"/>
              </a:rPr>
              <a:t>Subscribers average £59.49 versus £59.87 for non-subscribers.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78440" y="502920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50" b="1">
                <a:solidFill>
                  <a:srgbClr val="2A64AA"/>
                </a:solidFill>
                <a:latin typeface="Aptos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256032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1691639"/>
            <a:ext cx="223113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64748B"/>
                </a:solidFill>
                <a:latin typeface="Aptos"/>
              </a:rPr>
              <a:t>SUBSCRIBERS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1911095"/>
            <a:ext cx="223113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41F31"/>
                </a:solidFill>
                <a:latin typeface="Aptos"/>
              </a:rPr>
              <a:t>1,053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350008"/>
            <a:ext cx="223113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customers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554480"/>
            <a:ext cx="50292" cy="1078992"/>
          </a:xfrm>
          <a:prstGeom prst="rect">
            <a:avLst/>
          </a:prstGeom>
          <a:solidFill>
            <a:srgbClr val="2A6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474720" y="1554480"/>
            <a:ext cx="256032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39312" y="1691639"/>
            <a:ext cx="223113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64748B"/>
                </a:solidFill>
                <a:latin typeface="Aptos"/>
              </a:rPr>
              <a:t>SUBSCRIBER AVG 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1911095"/>
            <a:ext cx="223113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41F31"/>
                </a:solidFill>
                <a:latin typeface="Aptos"/>
              </a:rPr>
              <a:t>£59.49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1554480"/>
            <a:ext cx="50292" cy="1078992"/>
          </a:xfrm>
          <a:prstGeom prst="rect">
            <a:avLst/>
          </a:prstGeom>
          <a:solidFill>
            <a:srgbClr val="1F8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217920" y="1554480"/>
            <a:ext cx="256032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82512" y="1691639"/>
            <a:ext cx="223113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64748B"/>
                </a:solidFill>
                <a:latin typeface="Aptos"/>
              </a:rPr>
              <a:t>NON-SUBSCRIBER AVG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1911095"/>
            <a:ext cx="223113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41F31"/>
                </a:solidFill>
                <a:latin typeface="Aptos"/>
              </a:rPr>
              <a:t>£59.87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554480"/>
            <a:ext cx="50292" cy="1078992"/>
          </a:xfrm>
          <a:prstGeom prst="rect">
            <a:avLst/>
          </a:prstGeom>
          <a:solidFill>
            <a:srgbClr val="E18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961120" y="1554480"/>
            <a:ext cx="233172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25712" y="1691639"/>
            <a:ext cx="200253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64748B"/>
                </a:solidFill>
                <a:latin typeface="Aptos"/>
              </a:rPr>
              <a:t>DIFFERENCE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25712" y="1911095"/>
            <a:ext cx="200253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41F31"/>
                </a:solidFill>
                <a:latin typeface="Aptos"/>
              </a:rPr>
              <a:t>-£0.38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25712" y="2350008"/>
            <a:ext cx="200253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per purchase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61120" y="1554480"/>
            <a:ext cx="50292" cy="1078992"/>
          </a:xfrm>
          <a:prstGeom prst="rect">
            <a:avLst/>
          </a:prstGeom>
          <a:solidFill>
            <a:srgbClr val="B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31520" y="2971800"/>
            <a:ext cx="5257800" cy="2423160"/>
          </a:xfrm>
          <a:prstGeom prst="roundRect">
            <a:avLst/>
          </a:prstGeom>
          <a:solidFill>
            <a:srgbClr val="F8E5E5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5840" y="3273552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BE4A4A"/>
                </a:solidFill>
                <a:latin typeface="Aptos"/>
              </a:rPr>
              <a:t>WHAT TO CHANGE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3657600"/>
            <a:ext cx="44805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F2937"/>
                </a:solidFill>
                <a:latin typeface="Aptos"/>
              </a:defRPr>
            </a:pPr>
            <a:r>
              <a:t>• Build benefits around frequency, convenience and exclusive value.</a:t>
            </a:r>
          </a:p>
          <a:p>
            <a:pPr>
              <a:spcAft>
                <a:spcPts val="800"/>
              </a:spcAft>
              <a:defRPr sz="1100">
                <a:solidFill>
                  <a:srgbClr val="1F2937"/>
                </a:solidFill>
                <a:latin typeface="Aptos"/>
              </a:defRPr>
            </a:pPr>
            <a:r>
              <a:t>• Use personalised offers to convert highly engaged shoppers.</a:t>
            </a:r>
          </a:p>
          <a:p>
            <a:pPr>
              <a:spcAft>
                <a:spcPts val="800"/>
              </a:spcAft>
              <a:defRPr sz="1100">
                <a:solidFill>
                  <a:srgbClr val="1F2937"/>
                </a:solidFill>
                <a:latin typeface="Aptos"/>
              </a:defRPr>
            </a:pPr>
            <a:r>
              <a:t>• Track retention and purchase frequency alongside basket size.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2971800"/>
            <a:ext cx="5074920" cy="2423160"/>
          </a:xfrm>
          <a:prstGeom prst="roundRect">
            <a:avLst/>
          </a:prstGeom>
          <a:solidFill>
            <a:srgbClr val="E2ECF9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37960" y="3273552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2A64AA"/>
                </a:solidFill>
                <a:latin typeface="Aptos"/>
              </a:rPr>
              <a:t>IMPORTANT NUANCE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3657600"/>
            <a:ext cx="42976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41F31"/>
                </a:solidFill>
                <a:latin typeface="Aptos"/>
              </a:rPr>
              <a:t>Similar spend ≠ similar lifetime value.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4315968"/>
            <a:ext cx="4114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Aptos"/>
              </a:rPr>
              <a:t>Subscription may still improve retention, but that hypothesis needs cohort-level validation.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7395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64748B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41F31"/>
                </a:solidFill>
                <a:latin typeface="Aptos"/>
              </a:rPr>
              <a:t>Discounting is concentrated in five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33271"/>
            <a:ext cx="10424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Aptos"/>
              </a:rPr>
              <a:t>Hat, Sneakers, Coat, Sweater and Pants have the highest share of purchases with discounts.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78440" y="502920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50" b="1">
                <a:solidFill>
                  <a:srgbClr val="2A64AA"/>
                </a:solidFill>
                <a:latin typeface="Aptos"/>
              </a:rPr>
              <a:t>08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31520" y="1645920"/>
          <a:ext cx="649224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498079" y="1645920"/>
            <a:ext cx="3840480" cy="4297680"/>
          </a:xfrm>
          <a:prstGeom prst="roundRect">
            <a:avLst/>
          </a:prstGeom>
          <a:solidFill>
            <a:srgbClr val="FAEDDC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0" y="1965960"/>
            <a:ext cx="1554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E1822D"/>
                </a:solidFill>
                <a:latin typeface="Aptos"/>
              </a:rPr>
              <a:t>INTERPRETATION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395728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41F31"/>
                </a:solidFill>
                <a:latin typeface="Aptos"/>
              </a:rPr>
              <a:t>Two possible explanations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9718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F2937"/>
                </a:solidFill>
                <a:latin typeface="Aptos"/>
              </a:defRPr>
            </a:pPr>
            <a:r>
              <a:t>• Customers are more price-sensitive for these products.</a:t>
            </a:r>
          </a:p>
          <a:p>
            <a:pPr>
              <a:spcAft>
                <a:spcPts val="800"/>
              </a:spcAft>
              <a:defRPr sz="1100">
                <a:solidFill>
                  <a:srgbClr val="1F2937"/>
                </a:solidFill>
                <a:latin typeface="Aptos"/>
              </a:defRPr>
            </a:pPr>
            <a:r>
              <a:t>• These products may simply be featured more often in promotions.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4343400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E1822D"/>
                </a:solidFill>
                <a:latin typeface="Aptos"/>
              </a:rPr>
              <a:t>Next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4709160"/>
            <a:ext cx="2880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Aptos"/>
              </a:rPr>
              <a:t>Compare discount rate with conversion, units per order and gross margin.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7395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64748B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41F31"/>
                </a:solidFill>
                <a:latin typeface="Aptos"/>
              </a:rPr>
              <a:t>The customer base is dominated by loyal shoppers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33271"/>
            <a:ext cx="10424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Aptos"/>
              </a:rPr>
              <a:t>3,116 customers are loyal, 701 returning and only 83 new.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78440" y="502920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50" b="1">
                <a:solidFill>
                  <a:srgbClr val="2A64AA"/>
                </a:solidFill>
                <a:latin typeface="Aptos"/>
              </a:rPr>
              <a:t>09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85800" y="1508760"/>
          <a:ext cx="475488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715000" y="1554480"/>
            <a:ext cx="182880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879592" y="1691639"/>
            <a:ext cx="149961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64748B"/>
                </a:solidFill>
                <a:latin typeface="Aptos"/>
              </a:rPr>
              <a:t>LOYAL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79592" y="1911095"/>
            <a:ext cx="149961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41F31"/>
                </a:solidFill>
                <a:latin typeface="Aptos"/>
              </a:rPr>
              <a:t>3,116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79592" y="2350008"/>
            <a:ext cx="149961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79.9%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15000" y="1554480"/>
            <a:ext cx="50292" cy="1078992"/>
          </a:xfrm>
          <a:prstGeom prst="rect">
            <a:avLst/>
          </a:prstGeom>
          <a:solidFill>
            <a:srgbClr val="347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726679" y="1554480"/>
            <a:ext cx="182880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91271" y="1691639"/>
            <a:ext cx="149961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64748B"/>
                </a:solidFill>
                <a:latin typeface="Aptos"/>
              </a:rPr>
              <a:t>RETURNING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91271" y="1911095"/>
            <a:ext cx="149961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41F31"/>
                </a:solidFill>
                <a:latin typeface="Aptos"/>
              </a:rPr>
              <a:t>701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1271" y="2350008"/>
            <a:ext cx="149961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18.0%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26679" y="1554480"/>
            <a:ext cx="50292" cy="1078992"/>
          </a:xfrm>
          <a:prstGeom prst="rect">
            <a:avLst/>
          </a:prstGeom>
          <a:solidFill>
            <a:srgbClr val="2A6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738360" y="1554480"/>
            <a:ext cx="182880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902952" y="1691639"/>
            <a:ext cx="149961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64748B"/>
                </a:solidFill>
                <a:latin typeface="Aptos"/>
              </a:rPr>
              <a:t>NEW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02952" y="1911095"/>
            <a:ext cx="149961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41F31"/>
                </a:solidFill>
                <a:latin typeface="Aptos"/>
              </a:rPr>
              <a:t>83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02952" y="2350008"/>
            <a:ext cx="149961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2.1%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38360" y="1554480"/>
            <a:ext cx="50292" cy="1078992"/>
          </a:xfrm>
          <a:prstGeom prst="rect">
            <a:avLst/>
          </a:prstGeom>
          <a:solidFill>
            <a:srgbClr val="E18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715000" y="2971800"/>
            <a:ext cx="5623560" cy="24688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89320" y="3273552"/>
            <a:ext cx="21945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2A64AA"/>
                </a:solidFill>
                <a:latin typeface="Aptos"/>
              </a:rPr>
              <a:t>THE STRATEGIC TENSION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9320" y="3675887"/>
            <a:ext cx="4754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141F31"/>
                </a:solidFill>
                <a:latin typeface="Aptos"/>
              </a:rPr>
              <a:t>Retention looks healthy — acquisition may be the bottleneck.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498848"/>
            <a:ext cx="4663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Aptos"/>
              </a:rPr>
              <a:t>Protect loyal customers while building a stronger top-of-funnel engine. Measure new-customer conversion into returning status.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7395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64748B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41F31"/>
                </a:solidFill>
                <a:latin typeface="Aptos"/>
              </a:rPr>
              <a:t>Highly engaged customers are a major subscription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33271"/>
            <a:ext cx="10424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Aptos"/>
              </a:rPr>
              <a:t>Only 958 of 3,476 repeat buyers are subscribed.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78440" y="502920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50" b="1">
                <a:solidFill>
                  <a:srgbClr val="2A64AA"/>
                </a:solidFill>
                <a:latin typeface="Aptos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251460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1691639"/>
            <a:ext cx="218541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64748B"/>
                </a:solidFill>
                <a:latin typeface="Aptos"/>
              </a:rPr>
              <a:t>REPEAT BUYERS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1911095"/>
            <a:ext cx="218541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41F31"/>
                </a:solidFill>
                <a:latin typeface="Aptos"/>
              </a:rPr>
              <a:t>3,476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350008"/>
            <a:ext cx="218541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previous purchases &gt;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554480"/>
            <a:ext cx="50292" cy="1078992"/>
          </a:xfrm>
          <a:prstGeom prst="rect">
            <a:avLst/>
          </a:prstGeom>
          <a:solidFill>
            <a:srgbClr val="2A6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429000" y="1554480"/>
            <a:ext cx="251460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93592" y="1691639"/>
            <a:ext cx="218541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64748B"/>
                </a:solidFill>
                <a:latin typeface="Aptos"/>
              </a:rPr>
              <a:t>SUBSCRIBED REPEAT BUYERS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1911095"/>
            <a:ext cx="218541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41F31"/>
                </a:solidFill>
                <a:latin typeface="Aptos"/>
              </a:rPr>
              <a:t>958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29000" y="1554480"/>
            <a:ext cx="50292" cy="1078992"/>
          </a:xfrm>
          <a:prstGeom prst="rect">
            <a:avLst/>
          </a:prstGeom>
          <a:solidFill>
            <a:srgbClr val="1F8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51460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91072" y="1691639"/>
            <a:ext cx="218541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64748B"/>
                </a:solidFill>
                <a:latin typeface="Aptos"/>
              </a:rPr>
              <a:t>NOT SUBSCRIBED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1072" y="1911095"/>
            <a:ext cx="218541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41F31"/>
                </a:solidFill>
                <a:latin typeface="Aptos"/>
              </a:rPr>
              <a:t>2,518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1554480"/>
            <a:ext cx="50292" cy="1078992"/>
          </a:xfrm>
          <a:prstGeom prst="rect">
            <a:avLst/>
          </a:prstGeom>
          <a:solidFill>
            <a:srgbClr val="E18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823960" y="1554480"/>
            <a:ext cx="251460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88552" y="1691639"/>
            <a:ext cx="218541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64748B"/>
                </a:solidFill>
                <a:latin typeface="Aptos"/>
              </a:rPr>
              <a:t>SUBSCRIPTION PENETRATION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8552" y="1911095"/>
            <a:ext cx="218541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41F31"/>
                </a:solidFill>
                <a:latin typeface="Aptos"/>
              </a:rPr>
              <a:t>27.6%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2350008"/>
            <a:ext cx="218541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among repeat buyers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23960" y="1554480"/>
            <a:ext cx="50292" cy="1078992"/>
          </a:xfrm>
          <a:prstGeom prst="rect">
            <a:avLst/>
          </a:prstGeom>
          <a:solidFill>
            <a:srgbClr val="BE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31520" y="3063240"/>
            <a:ext cx="10607040" cy="2286000"/>
          </a:xfrm>
          <a:prstGeom prst="roundRect">
            <a:avLst/>
          </a:prstGeom>
          <a:solidFill>
            <a:srgbClr val="E2ECF9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24128" y="3364992"/>
            <a:ext cx="1645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2A64AA"/>
                </a:solidFill>
                <a:latin typeface="Aptos"/>
              </a:rPr>
              <a:t>BIGGEST UNLOCK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3730752"/>
            <a:ext cx="45720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141F31"/>
                </a:solidFill>
                <a:latin typeface="Aptos"/>
              </a:rPr>
              <a:t>Convert engagement into membership.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4343400"/>
            <a:ext cx="9509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Aptos"/>
              </a:rPr>
              <a:t>Use triggered offers after repeat milestones, exclusive pricing, convenience benefits and personalised rewards. This is a warm audience—not a cold acquisition problem.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7395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64748B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41F31"/>
                </a:solidFill>
                <a:latin typeface="Aptos"/>
              </a:rPr>
              <a:t>A focused product set drives each category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33271"/>
            <a:ext cx="10424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Aptos"/>
              </a:rPr>
              <a:t>Prioritise proven sellers for inventory planning, cross-sell and merchandising.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78440" y="502920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50" b="1">
                <a:solidFill>
                  <a:srgbClr val="2A64AA"/>
                </a:solidFill>
                <a:latin typeface="Aptos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5166360" cy="19659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1F31"/>
                </a:solidFill>
                <a:latin typeface="Aptos"/>
              </a:rPr>
              <a:t>Accessories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50008"/>
            <a:ext cx="228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F8584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2257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Aptos"/>
              </a:rPr>
              <a:t>Jewelry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79"/>
            <a:ext cx="228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F8584"/>
                </a:solidFill>
                <a:latin typeface="Apto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7004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Aptos"/>
              </a:rPr>
              <a:t>Sunglasses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44952"/>
            <a:ext cx="228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F8584"/>
                </a:solidFill>
                <a:latin typeface="Apto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017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Aptos"/>
              </a:rPr>
              <a:t>Belt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017520"/>
            <a:ext cx="1965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64748B"/>
                </a:solidFill>
                <a:latin typeface="Aptos"/>
              </a:rPr>
              <a:t>INVENTORY • CROSS-SELL • PROMOTION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600200"/>
            <a:ext cx="5166360" cy="19659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182880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1F31"/>
                </a:solidFill>
                <a:latin typeface="Aptos"/>
              </a:rPr>
              <a:t>Clothing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350008"/>
            <a:ext cx="228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F8584"/>
                </a:solidFill>
                <a:latin typeface="Apto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232257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Aptos"/>
              </a:rPr>
              <a:t>Blouse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2697479"/>
            <a:ext cx="228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F8584"/>
                </a:solidFill>
                <a:latin typeface="Apto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267004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Aptos"/>
              </a:rPr>
              <a:t>Pants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59" y="3044952"/>
            <a:ext cx="228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F8584"/>
                </a:solidFill>
                <a:latin typeface="Apto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017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Aptos"/>
              </a:rPr>
              <a:t>Shirt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59" y="3017520"/>
            <a:ext cx="1965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64748B"/>
                </a:solidFill>
                <a:latin typeface="Aptos"/>
              </a:rPr>
              <a:t>INVENTORY • CROSS-SELL • PROMOTION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931920"/>
            <a:ext cx="5166360" cy="19659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416052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1F31"/>
                </a:solidFill>
                <a:latin typeface="Aptos"/>
              </a:rPr>
              <a:t>Footwear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681728"/>
            <a:ext cx="228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F8584"/>
                </a:solidFill>
                <a:latin typeface="Aptos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654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Aptos"/>
              </a:rPr>
              <a:t>Sandals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029200"/>
            <a:ext cx="228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F8584"/>
                </a:solidFill>
                <a:latin typeface="Aptos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00176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Aptos"/>
              </a:rPr>
              <a:t>Shoes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5376672"/>
            <a:ext cx="228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F8584"/>
                </a:solidFill>
                <a:latin typeface="Apto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534924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Aptos"/>
              </a:rPr>
              <a:t>Sneaker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4720" y="5349240"/>
            <a:ext cx="1965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64748B"/>
                </a:solidFill>
                <a:latin typeface="Aptos"/>
              </a:rPr>
              <a:t>INVENTORY • CROSS-SELL • PROMOTION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3931920"/>
            <a:ext cx="5166360" cy="19659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92240" y="416052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1F31"/>
                </a:solidFill>
                <a:latin typeface="Aptos"/>
              </a:rPr>
              <a:t>Outerwear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59" y="4681728"/>
            <a:ext cx="228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F8584"/>
                </a:solidFill>
                <a:latin typeface="Aptos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9440" y="4654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Aptos"/>
              </a:rPr>
              <a:t>Jacket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59" y="5029200"/>
            <a:ext cx="228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F8584"/>
                </a:solidFill>
                <a:latin typeface="Aptos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9440" y="500176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Aptos"/>
              </a:rPr>
              <a:t>Coat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2559" y="5349240"/>
            <a:ext cx="1965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1">
                <a:solidFill>
                  <a:srgbClr val="64748B"/>
                </a:solidFill>
                <a:latin typeface="Aptos"/>
              </a:rPr>
              <a:t>INVENTORY • CROSS-SELL • PROMOTION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47395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64748B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41F31"/>
                </a:solidFill>
                <a:latin typeface="Aptos"/>
              </a:rPr>
              <a:t>Young Adults and Middle-Aged customers lead revenue contribution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33271"/>
            <a:ext cx="10424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Aptos"/>
              </a:rPr>
              <a:t>These cohorts represent the strongest revenue-generating demographic.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78440" y="502920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50" b="1">
                <a:solidFill>
                  <a:srgbClr val="2A64AA"/>
                </a:solidFill>
                <a:latin typeface="Aptos"/>
              </a:rPr>
              <a:t>12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31520" y="1645920"/>
          <a:ext cx="649224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498079" y="1645920"/>
            <a:ext cx="3840480" cy="4297680"/>
          </a:xfrm>
          <a:prstGeom prst="roundRect">
            <a:avLst/>
          </a:prstGeom>
          <a:solidFill>
            <a:srgbClr val="E2F2F0"/>
          </a:solidFill>
          <a:ln w="889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0" y="1965960"/>
            <a:ext cx="2103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F8584"/>
                </a:solidFill>
                <a:latin typeface="Aptos"/>
              </a:rPr>
              <a:t>MARKETING IMPLICATION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395728"/>
            <a:ext cx="2971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141F31"/>
                </a:solidFill>
                <a:latin typeface="Aptos"/>
              </a:rPr>
              <a:t>Protect the cohorts that already produce the most revenue.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3401568"/>
            <a:ext cx="2834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>
                <a:solidFill>
                  <a:srgbClr val="1F2937"/>
                </a:solidFill>
                <a:latin typeface="Aptos"/>
              </a:defRPr>
            </a:pPr>
            <a:r>
              <a:t>• Tailor creative and offers by age cohort.</a:t>
            </a:r>
          </a:p>
          <a:p>
            <a:pPr>
              <a:spcAft>
                <a:spcPts val="800"/>
              </a:spcAft>
              <a:defRPr sz="1050">
                <a:solidFill>
                  <a:srgbClr val="1F2937"/>
                </a:solidFill>
                <a:latin typeface="Aptos"/>
              </a:defRPr>
            </a:pPr>
            <a:r>
              <a:t>• Then test whether the strongest cohorts also have higher frequency or basket size.</a:t>
            </a:r>
          </a:p>
          <a:p>
            <a:pPr>
              <a:spcAft>
                <a:spcPts val="800"/>
              </a:spcAft>
              <a:defRPr sz="1050">
                <a:solidFill>
                  <a:srgbClr val="1F2937"/>
                </a:solidFill>
                <a:latin typeface="Aptos"/>
              </a:defRPr>
            </a:pPr>
            <a:r>
              <a:t>• Do not optimise solely for revenue—include retention and margin.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7395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64748B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8961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ptos"/>
              </a:rPr>
              <a:t>What management should do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078992"/>
            <a:ext cx="795527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0C2D9"/>
                </a:solidFill>
                <a:latin typeface="Aptos"/>
              </a:rPr>
              <a:t>Turn the analysis into a test-and-learn commercial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9164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78AAD7"/>
                </a:solidFill>
                <a:latin typeface="Apto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673352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Grow acquisition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020824"/>
            <a:ext cx="44348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C6D3E5"/>
                </a:solidFill>
                <a:latin typeface="Aptos"/>
              </a:rPr>
              <a:t>Loyalty is strong but the new-customer pool is small. Invest in acquisition and first-to-second purchase conversion.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072" y="169164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78AAD7"/>
                </a:solidFill>
                <a:latin typeface="Apto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673352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Redesign subscription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020824"/>
            <a:ext cx="44348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C6D3E5"/>
                </a:solidFill>
                <a:latin typeface="Aptos"/>
              </a:rPr>
              <a:t>Target repeat buyers with benefits that increase frequency, convenience and perceived value—not just a membership badge.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2004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78AAD7"/>
                </a:solidFill>
                <a:latin typeface="Aptos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182112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Make discounts smarter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529584"/>
            <a:ext cx="44348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C6D3E5"/>
                </a:solidFill>
                <a:latin typeface="Aptos"/>
              </a:rPr>
              <a:t>Target promotions to high-value baskets and discount-sensitive products; optimise for incremental margin.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32004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78AAD7"/>
                </a:solidFill>
                <a:latin typeface="Aptos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182112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Merchandise winners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529584"/>
            <a:ext cx="44348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C6D3E5"/>
                </a:solidFill>
                <a:latin typeface="Aptos"/>
              </a:rPr>
              <a:t>Prioritise high-rated and top-purchased products in inventory, recommendations and campaigns.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70916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78AAD7"/>
                </a:solidFill>
                <a:latin typeface="Aptos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690872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Monetise fulfilment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5038344"/>
            <a:ext cx="44348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C6D3E5"/>
                </a:solidFill>
                <a:latin typeface="Aptos"/>
              </a:rPr>
              <a:t>Test premium delivery upgrades and threshold-based offers around higher-value orders.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072" y="470916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78AAD7"/>
                </a:solidFill>
                <a:latin typeface="Aptos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4690872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Deepen segmentation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5038344"/>
            <a:ext cx="44348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C6D3E5"/>
                </a:solidFill>
                <a:latin typeface="Aptos"/>
              </a:rPr>
              <a:t>Combine gender, age, product mix, frequency and shipping choice to build actionable customer segments.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144768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0C2D9"/>
                </a:solidFill>
                <a:latin typeface="Aptos"/>
              </a:rPr>
              <a:t>Recommended operating model: KPI dashboard → hypothesis → A/B test → margin &amp; retention readout → scale / stop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49808" y="1234440"/>
            <a:ext cx="804672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100" b="1">
                <a:solidFill>
                  <a:srgbClr val="141F31"/>
                </a:solidFill>
                <a:latin typeface="Aptos"/>
              </a:rPr>
              <a:t>The data shows a healthy core —
with clear opportunities to grow.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2788920"/>
            <a:ext cx="8046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A64AA"/>
                </a:solidFill>
                <a:latin typeface="Aptos"/>
              </a:rPr>
              <a:t>Strong loyalty + engaged repeat buyers + high-value product signals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1138</Words>
  <Application>Microsoft Office PowerPoint</Application>
  <PresentationFormat>Widescreen</PresentationFormat>
  <Paragraphs>251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Mann Shah</cp:lastModifiedBy>
  <cp:revision>2</cp:revision>
  <dcterms:created xsi:type="dcterms:W3CDTF">2013-01-27T09:14:16Z</dcterms:created>
  <dcterms:modified xsi:type="dcterms:W3CDTF">2026-09-08T19:26:54Z</dcterms:modified>
  <cp:category/>
</cp:coreProperties>
</file>